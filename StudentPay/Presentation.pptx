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7" r:id="rId2"/>
    <p:sldId id="258" r:id="rId3"/>
    <p:sldId id="259" r:id="rId4"/>
    <p:sldId id="260" r:id="rId5"/>
    <p:sldId id="261" r:id="rId6"/>
    <p:sldId id="262" r:id="rId7"/>
    <p:sldId id="264" r:id="rId8"/>
    <p:sldId id="265" r:id="rId9"/>
    <p:sldId id="263" r:id="rId10"/>
  </p:sldIdLst>
  <p:sldSz cx="12192000" cy="6858000"/>
  <p:notesSz cx="6858000" cy="9144000"/>
  <p:defaultText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73E8"/>
    <a:srgbClr val="4DA3F1"/>
    <a:srgbClr val="4D2D2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67"/>
    <p:restoredTop sz="94689"/>
  </p:normalViewPr>
  <p:slideViewPr>
    <p:cSldViewPr snapToGrid="0">
      <p:cViewPr varScale="1">
        <p:scale>
          <a:sx n="101" d="100"/>
          <a:sy n="101" d="100"/>
        </p:scale>
        <p:origin x="25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119061-9C7C-5C4D-8FEA-6632DD0B598E}" type="datetimeFigureOut">
              <a:rPr lang="en-GH" smtClean="0"/>
              <a:t>07/03/2026</a:t>
            </a:fld>
            <a:endParaRPr lang="en-G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5F10A6-C440-6048-ADD0-7C213C7B8E3D}" type="slidenum">
              <a:rPr lang="en-GH" smtClean="0"/>
              <a:t>‹#›</a:t>
            </a:fld>
            <a:endParaRPr lang="en-GH"/>
          </a:p>
        </p:txBody>
      </p:sp>
    </p:spTree>
    <p:extLst>
      <p:ext uri="{BB962C8B-B14F-4D97-AF65-F5344CB8AC3E}">
        <p14:creationId xmlns:p14="http://schemas.microsoft.com/office/powerpoint/2010/main" val="3487495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ounded Rectangle 6">
            <a:extLst>
              <a:ext uri="{FF2B5EF4-FFF2-40B4-BE49-F238E27FC236}">
                <a16:creationId xmlns:a16="http://schemas.microsoft.com/office/drawing/2014/main" id="{EB012B4D-FD8A-6E53-461B-61C2A254883F}"/>
              </a:ext>
            </a:extLst>
          </p:cNvPr>
          <p:cNvSpPr/>
          <p:nvPr userDrawn="1"/>
        </p:nvSpPr>
        <p:spPr>
          <a:xfrm>
            <a:off x="10697028" y="6356349"/>
            <a:ext cx="667657" cy="379639"/>
          </a:xfrm>
          <a:prstGeom prst="roundRect">
            <a:avLst/>
          </a:prstGeom>
          <a:gradFill flip="none" rotWithShape="1">
            <a:gsLst>
              <a:gs pos="0">
                <a:srgbClr val="1A73E8">
                  <a:shade val="30000"/>
                  <a:satMod val="115000"/>
                </a:srgbClr>
              </a:gs>
              <a:gs pos="50000">
                <a:srgbClr val="1A73E8">
                  <a:shade val="67500"/>
                  <a:satMod val="115000"/>
                </a:srgbClr>
              </a:gs>
              <a:gs pos="100000">
                <a:srgbClr val="1A73E8">
                  <a:shade val="100000"/>
                  <a:satMod val="115000"/>
                </a:srgb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2" name="Title 1">
            <a:extLst>
              <a:ext uri="{FF2B5EF4-FFF2-40B4-BE49-F238E27FC236}">
                <a16:creationId xmlns:a16="http://schemas.microsoft.com/office/drawing/2014/main" id="{22EF7E39-DBDA-0602-0A7A-6847F6774013}"/>
              </a:ext>
            </a:extLst>
          </p:cNvPr>
          <p:cNvSpPr>
            <a:spLocks noGrp="1"/>
          </p:cNvSpPr>
          <p:nvPr>
            <p:ph type="ctrTitle" hasCustomPrompt="1"/>
          </p:nvPr>
        </p:nvSpPr>
        <p:spPr>
          <a:xfrm>
            <a:off x="1524000" y="1582058"/>
            <a:ext cx="9144000" cy="2552018"/>
          </a:xfrm>
        </p:spPr>
        <p:txBody>
          <a:bodyPr anchor="b"/>
          <a:lstStyle>
            <a:lvl1pPr algn="ctr">
              <a:defRPr sz="6000">
                <a:solidFill>
                  <a:schemeClr val="tx1"/>
                </a:solidFill>
              </a:defRPr>
            </a:lvl1pPr>
          </a:lstStyle>
          <a:p>
            <a:r>
              <a:rPr lang="en-GH" dirty="0"/>
              <a:t>HELLO WORLD</a:t>
            </a:r>
          </a:p>
        </p:txBody>
      </p:sp>
      <p:sp>
        <p:nvSpPr>
          <p:cNvPr id="3" name="Subtitle 2">
            <a:extLst>
              <a:ext uri="{FF2B5EF4-FFF2-40B4-BE49-F238E27FC236}">
                <a16:creationId xmlns:a16="http://schemas.microsoft.com/office/drawing/2014/main" id="{97B66C56-B7AB-A979-D4AD-A162FD9EC1B1}"/>
              </a:ext>
            </a:extLst>
          </p:cNvPr>
          <p:cNvSpPr>
            <a:spLocks noGrp="1"/>
          </p:cNvSpPr>
          <p:nvPr>
            <p:ph type="subTitle" idx="1"/>
          </p:nvPr>
        </p:nvSpPr>
        <p:spPr>
          <a:xfrm>
            <a:off x="1524000" y="4281713"/>
            <a:ext cx="9144000" cy="1367971"/>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GH" dirty="0"/>
          </a:p>
        </p:txBody>
      </p:sp>
      <p:sp>
        <p:nvSpPr>
          <p:cNvPr id="4" name="Date Placeholder 3">
            <a:extLst>
              <a:ext uri="{FF2B5EF4-FFF2-40B4-BE49-F238E27FC236}">
                <a16:creationId xmlns:a16="http://schemas.microsoft.com/office/drawing/2014/main" id="{508000B4-3801-0241-7656-092B0AA920DC}"/>
              </a:ext>
            </a:extLst>
          </p:cNvPr>
          <p:cNvSpPr>
            <a:spLocks noGrp="1"/>
          </p:cNvSpPr>
          <p:nvPr>
            <p:ph type="dt" sz="half" idx="10"/>
          </p:nvPr>
        </p:nvSpPr>
        <p:spPr/>
        <p:txBody>
          <a:bodyPr/>
          <a:lstStyle/>
          <a:p>
            <a:fld id="{BE1ACFB9-018D-8242-B104-CD45D632837B}" type="datetime3">
              <a:rPr lang="en-US" smtClean="0"/>
              <a:t>3 July 2026</a:t>
            </a:fld>
            <a:endParaRPr lang="en-GH" dirty="0"/>
          </a:p>
        </p:txBody>
      </p:sp>
      <p:sp>
        <p:nvSpPr>
          <p:cNvPr id="6" name="Slide Number Placeholder 5">
            <a:extLst>
              <a:ext uri="{FF2B5EF4-FFF2-40B4-BE49-F238E27FC236}">
                <a16:creationId xmlns:a16="http://schemas.microsoft.com/office/drawing/2014/main" id="{13EFC442-F940-5836-CCB8-83500D32FB9C}"/>
              </a:ext>
            </a:extLst>
          </p:cNvPr>
          <p:cNvSpPr>
            <a:spLocks noGrp="1"/>
          </p:cNvSpPr>
          <p:nvPr>
            <p:ph type="sldNum" sz="quarter" idx="12"/>
          </p:nvPr>
        </p:nvSpPr>
        <p:spPr>
          <a:xfrm>
            <a:off x="10697028" y="6356350"/>
            <a:ext cx="656772" cy="365126"/>
          </a:xfrm>
        </p:spPr>
        <p:txBody>
          <a:bodyPr/>
          <a:lstStyle>
            <a:lvl1pPr algn="ctr">
              <a:defRPr sz="1600" b="1">
                <a:solidFill>
                  <a:schemeClr val="bg1"/>
                </a:solidFill>
              </a:defRPr>
            </a:lvl1pPr>
          </a:lstStyle>
          <a:p>
            <a:fld id="{844BC124-E8F2-314E-B275-FCD333FAB8D0}" type="slidenum">
              <a:rPr lang="en-GH" smtClean="0"/>
              <a:pPr/>
              <a:t>‹#›</a:t>
            </a:fld>
            <a:endParaRPr lang="en-GH" dirty="0"/>
          </a:p>
        </p:txBody>
      </p:sp>
      <p:sp>
        <p:nvSpPr>
          <p:cNvPr id="9" name="TextBox 8">
            <a:extLst>
              <a:ext uri="{FF2B5EF4-FFF2-40B4-BE49-F238E27FC236}">
                <a16:creationId xmlns:a16="http://schemas.microsoft.com/office/drawing/2014/main" id="{33E89BDC-0E55-480D-A5A8-528A86F5DF60}"/>
              </a:ext>
            </a:extLst>
          </p:cNvPr>
          <p:cNvSpPr txBox="1"/>
          <p:nvPr userDrawn="1"/>
        </p:nvSpPr>
        <p:spPr>
          <a:xfrm>
            <a:off x="1801089" y="517359"/>
            <a:ext cx="3366656" cy="369332"/>
          </a:xfrm>
          <a:prstGeom prst="rect">
            <a:avLst/>
          </a:prstGeom>
          <a:noFill/>
        </p:spPr>
        <p:txBody>
          <a:bodyPr wrap="square" rtlCol="0">
            <a:spAutoFit/>
          </a:bodyPr>
          <a:lstStyle/>
          <a:p>
            <a:pPr algn="ctr"/>
            <a:r>
              <a:rPr lang="en-GB" dirty="0">
                <a:solidFill>
                  <a:schemeClr val="bg1"/>
                </a:solidFill>
                <a:latin typeface="+mj-lt"/>
              </a:rPr>
              <a:t>KOFORIDUA TECHNICAL</a:t>
            </a:r>
            <a:endParaRPr lang="en-GH" dirty="0">
              <a:solidFill>
                <a:schemeClr val="bg1"/>
              </a:solidFill>
              <a:latin typeface="+mj-lt"/>
            </a:endParaRPr>
          </a:p>
        </p:txBody>
      </p:sp>
      <p:sp>
        <p:nvSpPr>
          <p:cNvPr id="10" name="TextBox 9">
            <a:extLst>
              <a:ext uri="{FF2B5EF4-FFF2-40B4-BE49-F238E27FC236}">
                <a16:creationId xmlns:a16="http://schemas.microsoft.com/office/drawing/2014/main" id="{11885ECC-4460-E6A3-FE37-9FD56E4856A5}"/>
              </a:ext>
            </a:extLst>
          </p:cNvPr>
          <p:cNvSpPr txBox="1"/>
          <p:nvPr userDrawn="1"/>
        </p:nvSpPr>
        <p:spPr>
          <a:xfrm>
            <a:off x="1995054" y="748138"/>
            <a:ext cx="2840185" cy="538609"/>
          </a:xfrm>
          <a:prstGeom prst="rect">
            <a:avLst/>
          </a:prstGeom>
          <a:noFill/>
        </p:spPr>
        <p:txBody>
          <a:bodyPr wrap="square" rtlCol="0">
            <a:spAutoFit/>
          </a:bodyPr>
          <a:lstStyle/>
          <a:p>
            <a:pPr algn="ctr"/>
            <a:r>
              <a:rPr lang="en-GB" sz="2900" b="1" dirty="0">
                <a:solidFill>
                  <a:schemeClr val="bg1"/>
                </a:solidFill>
                <a:latin typeface="+mj-lt"/>
              </a:rPr>
              <a:t>UNIVERSITY</a:t>
            </a:r>
            <a:endParaRPr lang="en-GH" sz="2900" b="1" dirty="0">
              <a:solidFill>
                <a:schemeClr val="bg1"/>
              </a:solidFill>
              <a:latin typeface="+mj-lt"/>
            </a:endParaRPr>
          </a:p>
        </p:txBody>
      </p:sp>
    </p:spTree>
    <p:extLst>
      <p:ext uri="{BB962C8B-B14F-4D97-AF65-F5344CB8AC3E}">
        <p14:creationId xmlns:p14="http://schemas.microsoft.com/office/powerpoint/2010/main" val="1899413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99EA2-EC7B-9463-BB38-6E99B5CB052D}"/>
              </a:ext>
            </a:extLst>
          </p:cNvPr>
          <p:cNvSpPr>
            <a:spLocks noGrp="1"/>
          </p:cNvSpPr>
          <p:nvPr>
            <p:ph type="title" hasCustomPrompt="1"/>
          </p:nvPr>
        </p:nvSpPr>
        <p:spPr/>
        <p:txBody>
          <a:bodyPr/>
          <a:lstStyle/>
          <a:p>
            <a:r>
              <a:rPr lang="en-GB" dirty="0"/>
              <a:t>TITLE</a:t>
            </a:r>
            <a:endParaRPr lang="en-GH" dirty="0"/>
          </a:p>
        </p:txBody>
      </p:sp>
      <p:sp>
        <p:nvSpPr>
          <p:cNvPr id="3" name="Content Placeholder 2">
            <a:extLst>
              <a:ext uri="{FF2B5EF4-FFF2-40B4-BE49-F238E27FC236}">
                <a16:creationId xmlns:a16="http://schemas.microsoft.com/office/drawing/2014/main" id="{00DC6DEA-D0E2-8D16-1C0C-B499290F5F22}"/>
              </a:ext>
            </a:extLst>
          </p:cNvPr>
          <p:cNvSpPr>
            <a:spLocks noGrp="1"/>
          </p:cNvSpPr>
          <p:nvPr>
            <p:ph idx="1"/>
          </p:nvPr>
        </p:nvSpPr>
        <p:spPr/>
        <p:txBody>
          <a:bodyPr/>
          <a:lstStyle/>
          <a:p>
            <a:pPr lvl="0"/>
            <a:r>
              <a:rPr lang="en-GB" dirty="0"/>
              <a:t>Click to edit Master text styles</a:t>
            </a:r>
          </a:p>
          <a:p>
            <a:pPr lvl="1"/>
            <a:r>
              <a:rPr lang="en-GB" dirty="0"/>
              <a:t>Second level</a:t>
            </a:r>
          </a:p>
          <a:p>
            <a:pPr lvl="2"/>
            <a:r>
              <a:rPr lang="en-GB" dirty="0"/>
              <a:t>Third </a:t>
            </a:r>
            <a:r>
              <a:rPr lang="en-GB" dirty="0" err="1"/>
              <a:t>leve</a:t>
            </a:r>
            <a:endParaRPr lang="en-GB" dirty="0"/>
          </a:p>
          <a:p>
            <a:pPr lvl="3"/>
            <a:r>
              <a:rPr lang="en-GB" dirty="0"/>
              <a:t>Fourth level</a:t>
            </a:r>
          </a:p>
          <a:p>
            <a:pPr lvl="4"/>
            <a:r>
              <a:rPr lang="en-GB" dirty="0"/>
              <a:t>Fifth level</a:t>
            </a:r>
            <a:endParaRPr lang="en-GH" dirty="0"/>
          </a:p>
        </p:txBody>
      </p:sp>
      <p:sp>
        <p:nvSpPr>
          <p:cNvPr id="4" name="Date Placeholder 3">
            <a:extLst>
              <a:ext uri="{FF2B5EF4-FFF2-40B4-BE49-F238E27FC236}">
                <a16:creationId xmlns:a16="http://schemas.microsoft.com/office/drawing/2014/main" id="{056FCF11-16F6-E48A-B62B-98AD09036F05}"/>
              </a:ext>
            </a:extLst>
          </p:cNvPr>
          <p:cNvSpPr>
            <a:spLocks noGrp="1"/>
          </p:cNvSpPr>
          <p:nvPr>
            <p:ph type="dt" sz="half" idx="10"/>
          </p:nvPr>
        </p:nvSpPr>
        <p:spPr/>
        <p:txBody>
          <a:bodyPr/>
          <a:lstStyle/>
          <a:p>
            <a:fld id="{EE0DDCC4-905D-5B48-850A-6F302726F80D}" type="datetime3">
              <a:rPr lang="en-US" smtClean="0"/>
              <a:t>3 July 2026</a:t>
            </a:fld>
            <a:endParaRPr lang="en-GH"/>
          </a:p>
        </p:txBody>
      </p:sp>
      <p:sp>
        <p:nvSpPr>
          <p:cNvPr id="6" name="Slide Number Placeholder 5">
            <a:extLst>
              <a:ext uri="{FF2B5EF4-FFF2-40B4-BE49-F238E27FC236}">
                <a16:creationId xmlns:a16="http://schemas.microsoft.com/office/drawing/2014/main" id="{440CDDF2-B750-12FA-794B-A5858F3432C9}"/>
              </a:ext>
            </a:extLst>
          </p:cNvPr>
          <p:cNvSpPr>
            <a:spLocks noGrp="1"/>
          </p:cNvSpPr>
          <p:nvPr>
            <p:ph type="sldNum" sz="quarter" idx="12"/>
          </p:nvPr>
        </p:nvSpPr>
        <p:spPr/>
        <p:txBody>
          <a:bodyPr/>
          <a:lstStyle/>
          <a:p>
            <a:fld id="{844BC124-E8F2-314E-B275-FCD333FAB8D0}" type="slidenum">
              <a:rPr lang="en-GH" smtClean="0"/>
              <a:t>‹#›</a:t>
            </a:fld>
            <a:endParaRPr lang="en-GH"/>
          </a:p>
        </p:txBody>
      </p:sp>
    </p:spTree>
    <p:extLst>
      <p:ext uri="{BB962C8B-B14F-4D97-AF65-F5344CB8AC3E}">
        <p14:creationId xmlns:p14="http://schemas.microsoft.com/office/powerpoint/2010/main" val="1624900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6B736-F2BA-DD71-A5A5-E8546D2F50C6}"/>
              </a:ext>
            </a:extLst>
          </p:cNvPr>
          <p:cNvSpPr>
            <a:spLocks noGrp="1"/>
          </p:cNvSpPr>
          <p:nvPr>
            <p:ph type="title"/>
          </p:nvPr>
        </p:nvSpPr>
        <p:spPr>
          <a:xfrm>
            <a:off x="831850" y="1709738"/>
            <a:ext cx="10515600" cy="2852737"/>
          </a:xfrm>
        </p:spPr>
        <p:txBody>
          <a:bodyPr anchor="b"/>
          <a:lstStyle>
            <a:lvl1pPr>
              <a:defRPr sz="6000"/>
            </a:lvl1pPr>
          </a:lstStyle>
          <a:p>
            <a:r>
              <a:rPr lang="en-GB" dirty="0"/>
              <a:t>Click to edit Master title style</a:t>
            </a:r>
            <a:endParaRPr lang="en-GH" dirty="0"/>
          </a:p>
        </p:txBody>
      </p:sp>
      <p:sp>
        <p:nvSpPr>
          <p:cNvPr id="3" name="Text Placeholder 2">
            <a:extLst>
              <a:ext uri="{FF2B5EF4-FFF2-40B4-BE49-F238E27FC236}">
                <a16:creationId xmlns:a16="http://schemas.microsoft.com/office/drawing/2014/main" id="{8AFBBDDC-EBAB-ED43-FAD3-E008550652B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A96B642-436C-89C7-3D6C-0946CC4F4116}"/>
              </a:ext>
            </a:extLst>
          </p:cNvPr>
          <p:cNvSpPr>
            <a:spLocks noGrp="1"/>
          </p:cNvSpPr>
          <p:nvPr>
            <p:ph type="dt" sz="half" idx="10"/>
          </p:nvPr>
        </p:nvSpPr>
        <p:spPr/>
        <p:txBody>
          <a:bodyPr/>
          <a:lstStyle/>
          <a:p>
            <a:fld id="{9ACBE955-A4D8-ED40-B359-78C915B98E50}" type="datetime3">
              <a:rPr lang="en-US" smtClean="0"/>
              <a:t>3 July 2026</a:t>
            </a:fld>
            <a:endParaRPr lang="en-GH"/>
          </a:p>
        </p:txBody>
      </p:sp>
      <p:sp>
        <p:nvSpPr>
          <p:cNvPr id="6" name="Slide Number Placeholder 5">
            <a:extLst>
              <a:ext uri="{FF2B5EF4-FFF2-40B4-BE49-F238E27FC236}">
                <a16:creationId xmlns:a16="http://schemas.microsoft.com/office/drawing/2014/main" id="{00FD430F-ED06-6A35-D709-B5B1F3542ABF}"/>
              </a:ext>
            </a:extLst>
          </p:cNvPr>
          <p:cNvSpPr>
            <a:spLocks noGrp="1"/>
          </p:cNvSpPr>
          <p:nvPr>
            <p:ph type="sldNum" sz="quarter" idx="12"/>
          </p:nvPr>
        </p:nvSpPr>
        <p:spPr/>
        <p:txBody>
          <a:bodyPr/>
          <a:lstStyle/>
          <a:p>
            <a:fld id="{844BC124-E8F2-314E-B275-FCD333FAB8D0}" type="slidenum">
              <a:rPr lang="en-GH" smtClean="0"/>
              <a:t>‹#›</a:t>
            </a:fld>
            <a:endParaRPr lang="en-GH"/>
          </a:p>
        </p:txBody>
      </p:sp>
    </p:spTree>
    <p:extLst>
      <p:ext uri="{BB962C8B-B14F-4D97-AF65-F5344CB8AC3E}">
        <p14:creationId xmlns:p14="http://schemas.microsoft.com/office/powerpoint/2010/main" val="3167028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A6A9B-ED73-C160-481E-1D2B503278A0}"/>
              </a:ext>
            </a:extLst>
          </p:cNvPr>
          <p:cNvSpPr>
            <a:spLocks noGrp="1"/>
          </p:cNvSpPr>
          <p:nvPr>
            <p:ph type="title" hasCustomPrompt="1"/>
          </p:nvPr>
        </p:nvSpPr>
        <p:spPr/>
        <p:txBody>
          <a:bodyPr/>
          <a:lstStyle/>
          <a:p>
            <a:r>
              <a:rPr lang="en-GB" dirty="0"/>
              <a:t>TITLE</a:t>
            </a:r>
            <a:endParaRPr lang="en-GH" dirty="0"/>
          </a:p>
        </p:txBody>
      </p:sp>
      <p:sp>
        <p:nvSpPr>
          <p:cNvPr id="3" name="Content Placeholder 2">
            <a:extLst>
              <a:ext uri="{FF2B5EF4-FFF2-40B4-BE49-F238E27FC236}">
                <a16:creationId xmlns:a16="http://schemas.microsoft.com/office/drawing/2014/main" id="{39315AEE-CAF7-E759-DE57-EA89A8D2DD0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4" name="Content Placeholder 3">
            <a:extLst>
              <a:ext uri="{FF2B5EF4-FFF2-40B4-BE49-F238E27FC236}">
                <a16:creationId xmlns:a16="http://schemas.microsoft.com/office/drawing/2014/main" id="{18C40888-180F-C09C-D9D0-C09F8E3C5C6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5" name="Date Placeholder 4">
            <a:extLst>
              <a:ext uri="{FF2B5EF4-FFF2-40B4-BE49-F238E27FC236}">
                <a16:creationId xmlns:a16="http://schemas.microsoft.com/office/drawing/2014/main" id="{1623B810-0B2E-2B80-32AF-7B961BC33CEC}"/>
              </a:ext>
            </a:extLst>
          </p:cNvPr>
          <p:cNvSpPr>
            <a:spLocks noGrp="1"/>
          </p:cNvSpPr>
          <p:nvPr>
            <p:ph type="dt" sz="half" idx="10"/>
          </p:nvPr>
        </p:nvSpPr>
        <p:spPr/>
        <p:txBody>
          <a:bodyPr/>
          <a:lstStyle/>
          <a:p>
            <a:fld id="{CFF31260-05D5-A441-8A1A-54DB1CA0B303}" type="datetime3">
              <a:rPr lang="en-US" smtClean="0"/>
              <a:t>3 July 2026</a:t>
            </a:fld>
            <a:endParaRPr lang="en-GH"/>
          </a:p>
        </p:txBody>
      </p:sp>
      <p:sp>
        <p:nvSpPr>
          <p:cNvPr id="7" name="Slide Number Placeholder 6">
            <a:extLst>
              <a:ext uri="{FF2B5EF4-FFF2-40B4-BE49-F238E27FC236}">
                <a16:creationId xmlns:a16="http://schemas.microsoft.com/office/drawing/2014/main" id="{725F6614-594D-653F-03F9-3E31FB149D50}"/>
              </a:ext>
            </a:extLst>
          </p:cNvPr>
          <p:cNvSpPr>
            <a:spLocks noGrp="1"/>
          </p:cNvSpPr>
          <p:nvPr>
            <p:ph type="sldNum" sz="quarter" idx="12"/>
          </p:nvPr>
        </p:nvSpPr>
        <p:spPr/>
        <p:txBody>
          <a:bodyPr/>
          <a:lstStyle/>
          <a:p>
            <a:fld id="{844BC124-E8F2-314E-B275-FCD333FAB8D0}" type="slidenum">
              <a:rPr lang="en-GH" smtClean="0"/>
              <a:t>‹#›</a:t>
            </a:fld>
            <a:endParaRPr lang="en-GH"/>
          </a:p>
        </p:txBody>
      </p:sp>
    </p:spTree>
    <p:extLst>
      <p:ext uri="{BB962C8B-B14F-4D97-AF65-F5344CB8AC3E}">
        <p14:creationId xmlns:p14="http://schemas.microsoft.com/office/powerpoint/2010/main" val="1173084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6A43B-BF74-8780-B408-59636BE720A2}"/>
              </a:ext>
            </a:extLst>
          </p:cNvPr>
          <p:cNvSpPr>
            <a:spLocks noGrp="1"/>
          </p:cNvSpPr>
          <p:nvPr>
            <p:ph type="title" hasCustomPrompt="1"/>
          </p:nvPr>
        </p:nvSpPr>
        <p:spPr>
          <a:xfrm>
            <a:off x="839788" y="365126"/>
            <a:ext cx="10515600" cy="926646"/>
          </a:xfrm>
        </p:spPr>
        <p:txBody>
          <a:bodyPr/>
          <a:lstStyle/>
          <a:p>
            <a:r>
              <a:rPr lang="en-GB" dirty="0"/>
              <a:t>TITLE</a:t>
            </a:r>
            <a:endParaRPr lang="en-GH" dirty="0"/>
          </a:p>
        </p:txBody>
      </p:sp>
      <p:sp>
        <p:nvSpPr>
          <p:cNvPr id="3" name="Text Placeholder 2">
            <a:extLst>
              <a:ext uri="{FF2B5EF4-FFF2-40B4-BE49-F238E27FC236}">
                <a16:creationId xmlns:a16="http://schemas.microsoft.com/office/drawing/2014/main" id="{BA869C7A-57D0-7894-F464-C19B5D82AC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4" name="Content Placeholder 3">
            <a:extLst>
              <a:ext uri="{FF2B5EF4-FFF2-40B4-BE49-F238E27FC236}">
                <a16:creationId xmlns:a16="http://schemas.microsoft.com/office/drawing/2014/main" id="{945809AF-23D3-28C7-225F-2B0B9ED5761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5" name="Text Placeholder 4">
            <a:extLst>
              <a:ext uri="{FF2B5EF4-FFF2-40B4-BE49-F238E27FC236}">
                <a16:creationId xmlns:a16="http://schemas.microsoft.com/office/drawing/2014/main" id="{94250F8B-2706-837A-7B12-096E32BAE3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6" name="Content Placeholder 5">
            <a:extLst>
              <a:ext uri="{FF2B5EF4-FFF2-40B4-BE49-F238E27FC236}">
                <a16:creationId xmlns:a16="http://schemas.microsoft.com/office/drawing/2014/main" id="{26D5CC21-29CA-225D-6657-CC31952B943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7" name="Date Placeholder 6">
            <a:extLst>
              <a:ext uri="{FF2B5EF4-FFF2-40B4-BE49-F238E27FC236}">
                <a16:creationId xmlns:a16="http://schemas.microsoft.com/office/drawing/2014/main" id="{4058B9EA-6A55-9214-0383-58897D0080AA}"/>
              </a:ext>
            </a:extLst>
          </p:cNvPr>
          <p:cNvSpPr>
            <a:spLocks noGrp="1"/>
          </p:cNvSpPr>
          <p:nvPr>
            <p:ph type="dt" sz="half" idx="10"/>
          </p:nvPr>
        </p:nvSpPr>
        <p:spPr/>
        <p:txBody>
          <a:bodyPr/>
          <a:lstStyle/>
          <a:p>
            <a:fld id="{91555EE9-34B2-3049-A57D-5D056960AC6E}" type="datetime3">
              <a:rPr lang="en-US" smtClean="0"/>
              <a:t>3 July 2026</a:t>
            </a:fld>
            <a:endParaRPr lang="en-GH"/>
          </a:p>
        </p:txBody>
      </p:sp>
      <p:sp>
        <p:nvSpPr>
          <p:cNvPr id="9" name="Slide Number Placeholder 8">
            <a:extLst>
              <a:ext uri="{FF2B5EF4-FFF2-40B4-BE49-F238E27FC236}">
                <a16:creationId xmlns:a16="http://schemas.microsoft.com/office/drawing/2014/main" id="{EEDB33A0-85C3-60C1-B343-5DE8496A3ABD}"/>
              </a:ext>
            </a:extLst>
          </p:cNvPr>
          <p:cNvSpPr>
            <a:spLocks noGrp="1"/>
          </p:cNvSpPr>
          <p:nvPr>
            <p:ph type="sldNum" sz="quarter" idx="12"/>
          </p:nvPr>
        </p:nvSpPr>
        <p:spPr/>
        <p:txBody>
          <a:bodyPr/>
          <a:lstStyle/>
          <a:p>
            <a:fld id="{844BC124-E8F2-314E-B275-FCD333FAB8D0}" type="slidenum">
              <a:rPr lang="en-GH" smtClean="0"/>
              <a:t>‹#›</a:t>
            </a:fld>
            <a:endParaRPr lang="en-GH"/>
          </a:p>
        </p:txBody>
      </p:sp>
    </p:spTree>
    <p:extLst>
      <p:ext uri="{BB962C8B-B14F-4D97-AF65-F5344CB8AC3E}">
        <p14:creationId xmlns:p14="http://schemas.microsoft.com/office/powerpoint/2010/main" val="116488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B2D99-B099-2745-42A6-1E0764338F7E}"/>
              </a:ext>
            </a:extLst>
          </p:cNvPr>
          <p:cNvSpPr>
            <a:spLocks noGrp="1"/>
          </p:cNvSpPr>
          <p:nvPr>
            <p:ph type="title" hasCustomPrompt="1"/>
          </p:nvPr>
        </p:nvSpPr>
        <p:spPr/>
        <p:txBody>
          <a:bodyPr/>
          <a:lstStyle/>
          <a:p>
            <a:r>
              <a:rPr lang="en-GB" dirty="0"/>
              <a:t>TITLE</a:t>
            </a:r>
            <a:endParaRPr lang="en-GH" dirty="0"/>
          </a:p>
        </p:txBody>
      </p:sp>
      <p:sp>
        <p:nvSpPr>
          <p:cNvPr id="3" name="Date Placeholder 2">
            <a:extLst>
              <a:ext uri="{FF2B5EF4-FFF2-40B4-BE49-F238E27FC236}">
                <a16:creationId xmlns:a16="http://schemas.microsoft.com/office/drawing/2014/main" id="{B0857B05-F03D-4971-E72A-37E28AFA14E2}"/>
              </a:ext>
            </a:extLst>
          </p:cNvPr>
          <p:cNvSpPr>
            <a:spLocks noGrp="1"/>
          </p:cNvSpPr>
          <p:nvPr>
            <p:ph type="dt" sz="half" idx="10"/>
          </p:nvPr>
        </p:nvSpPr>
        <p:spPr/>
        <p:txBody>
          <a:bodyPr/>
          <a:lstStyle/>
          <a:p>
            <a:fld id="{AE6296CE-6AE7-3949-AA96-17BA20FDD846}" type="datetime3">
              <a:rPr lang="en-US" smtClean="0"/>
              <a:t>3 July 2026</a:t>
            </a:fld>
            <a:endParaRPr lang="en-GH"/>
          </a:p>
        </p:txBody>
      </p:sp>
      <p:sp>
        <p:nvSpPr>
          <p:cNvPr id="5" name="Slide Number Placeholder 4">
            <a:extLst>
              <a:ext uri="{FF2B5EF4-FFF2-40B4-BE49-F238E27FC236}">
                <a16:creationId xmlns:a16="http://schemas.microsoft.com/office/drawing/2014/main" id="{84503A0D-A8F1-4857-CC5C-1374A48ECE8F}"/>
              </a:ext>
            </a:extLst>
          </p:cNvPr>
          <p:cNvSpPr>
            <a:spLocks noGrp="1"/>
          </p:cNvSpPr>
          <p:nvPr>
            <p:ph type="sldNum" sz="quarter" idx="12"/>
          </p:nvPr>
        </p:nvSpPr>
        <p:spPr/>
        <p:txBody>
          <a:bodyPr/>
          <a:lstStyle/>
          <a:p>
            <a:fld id="{844BC124-E8F2-314E-B275-FCD333FAB8D0}" type="slidenum">
              <a:rPr lang="en-GH" smtClean="0"/>
              <a:t>‹#›</a:t>
            </a:fld>
            <a:endParaRPr lang="en-GH"/>
          </a:p>
        </p:txBody>
      </p:sp>
    </p:spTree>
    <p:extLst>
      <p:ext uri="{BB962C8B-B14F-4D97-AF65-F5344CB8AC3E}">
        <p14:creationId xmlns:p14="http://schemas.microsoft.com/office/powerpoint/2010/main" val="4003552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3DAD9B-6515-0DE5-F9A5-B6BCDE552EE6}"/>
              </a:ext>
            </a:extLst>
          </p:cNvPr>
          <p:cNvSpPr>
            <a:spLocks noGrp="1"/>
          </p:cNvSpPr>
          <p:nvPr>
            <p:ph type="dt" sz="half" idx="10"/>
          </p:nvPr>
        </p:nvSpPr>
        <p:spPr/>
        <p:txBody>
          <a:bodyPr/>
          <a:lstStyle/>
          <a:p>
            <a:fld id="{15B1F8CE-A7E8-E642-8690-2E5286D18662}" type="datetime3">
              <a:rPr lang="en-US" smtClean="0"/>
              <a:t>3 July 2026</a:t>
            </a:fld>
            <a:endParaRPr lang="en-GH"/>
          </a:p>
        </p:txBody>
      </p:sp>
      <p:sp>
        <p:nvSpPr>
          <p:cNvPr id="4" name="Slide Number Placeholder 3">
            <a:extLst>
              <a:ext uri="{FF2B5EF4-FFF2-40B4-BE49-F238E27FC236}">
                <a16:creationId xmlns:a16="http://schemas.microsoft.com/office/drawing/2014/main" id="{BDB9BC4C-DBE9-5F5B-5FB0-A2F9CFECF4FA}"/>
              </a:ext>
            </a:extLst>
          </p:cNvPr>
          <p:cNvSpPr>
            <a:spLocks noGrp="1"/>
          </p:cNvSpPr>
          <p:nvPr>
            <p:ph type="sldNum" sz="quarter" idx="12"/>
          </p:nvPr>
        </p:nvSpPr>
        <p:spPr/>
        <p:txBody>
          <a:bodyPr/>
          <a:lstStyle/>
          <a:p>
            <a:fld id="{844BC124-E8F2-314E-B275-FCD333FAB8D0}" type="slidenum">
              <a:rPr lang="en-GH" smtClean="0"/>
              <a:t>‹#›</a:t>
            </a:fld>
            <a:endParaRPr lang="en-GH"/>
          </a:p>
        </p:txBody>
      </p:sp>
    </p:spTree>
    <p:extLst>
      <p:ext uri="{BB962C8B-B14F-4D97-AF65-F5344CB8AC3E}">
        <p14:creationId xmlns:p14="http://schemas.microsoft.com/office/powerpoint/2010/main" val="853123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3F0C2-B424-E98C-60DD-9C6761AB81EB}"/>
              </a:ext>
            </a:extLst>
          </p:cNvPr>
          <p:cNvSpPr>
            <a:spLocks noGrp="1"/>
          </p:cNvSpPr>
          <p:nvPr>
            <p:ph type="title" hasCustomPrompt="1"/>
          </p:nvPr>
        </p:nvSpPr>
        <p:spPr>
          <a:xfrm>
            <a:off x="839788" y="377372"/>
            <a:ext cx="10514012" cy="943428"/>
          </a:xfrm>
        </p:spPr>
        <p:txBody>
          <a:bodyPr anchor="ctr">
            <a:normAutofit/>
          </a:bodyPr>
          <a:lstStyle>
            <a:lvl1pPr>
              <a:defRPr sz="4000"/>
            </a:lvl1pPr>
          </a:lstStyle>
          <a:p>
            <a:r>
              <a:rPr lang="en-GB" dirty="0"/>
              <a:t>TITLE</a:t>
            </a:r>
            <a:endParaRPr lang="en-GH" dirty="0"/>
          </a:p>
        </p:txBody>
      </p:sp>
      <p:sp>
        <p:nvSpPr>
          <p:cNvPr id="3" name="Content Placeholder 2">
            <a:extLst>
              <a:ext uri="{FF2B5EF4-FFF2-40B4-BE49-F238E27FC236}">
                <a16:creationId xmlns:a16="http://schemas.microsoft.com/office/drawing/2014/main" id="{4F22A70A-E242-C7AB-8FC9-3AF3CEC630A2}"/>
              </a:ext>
            </a:extLst>
          </p:cNvPr>
          <p:cNvSpPr>
            <a:spLocks noGrp="1"/>
          </p:cNvSpPr>
          <p:nvPr>
            <p:ph idx="1"/>
          </p:nvPr>
        </p:nvSpPr>
        <p:spPr>
          <a:xfrm>
            <a:off x="5183188" y="1494971"/>
            <a:ext cx="6172200" cy="436607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GH" dirty="0"/>
          </a:p>
        </p:txBody>
      </p:sp>
      <p:sp>
        <p:nvSpPr>
          <p:cNvPr id="4" name="Text Placeholder 3">
            <a:extLst>
              <a:ext uri="{FF2B5EF4-FFF2-40B4-BE49-F238E27FC236}">
                <a16:creationId xmlns:a16="http://schemas.microsoft.com/office/drawing/2014/main" id="{C5FEF090-9584-2C52-5A89-DE06700FAE20}"/>
              </a:ext>
            </a:extLst>
          </p:cNvPr>
          <p:cNvSpPr>
            <a:spLocks noGrp="1"/>
          </p:cNvSpPr>
          <p:nvPr>
            <p:ph type="body" sz="half" idx="2"/>
          </p:nvPr>
        </p:nvSpPr>
        <p:spPr>
          <a:xfrm>
            <a:off x="839788" y="1494971"/>
            <a:ext cx="3932237" cy="437401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Click to edit Master text styles</a:t>
            </a:r>
          </a:p>
        </p:txBody>
      </p:sp>
      <p:sp>
        <p:nvSpPr>
          <p:cNvPr id="5" name="Date Placeholder 4">
            <a:extLst>
              <a:ext uri="{FF2B5EF4-FFF2-40B4-BE49-F238E27FC236}">
                <a16:creationId xmlns:a16="http://schemas.microsoft.com/office/drawing/2014/main" id="{8A1A263F-EF51-2ED8-1B81-A81A7072E3E3}"/>
              </a:ext>
            </a:extLst>
          </p:cNvPr>
          <p:cNvSpPr>
            <a:spLocks noGrp="1"/>
          </p:cNvSpPr>
          <p:nvPr>
            <p:ph type="dt" sz="half" idx="10"/>
          </p:nvPr>
        </p:nvSpPr>
        <p:spPr/>
        <p:txBody>
          <a:bodyPr/>
          <a:lstStyle/>
          <a:p>
            <a:fld id="{ACC3E467-AA06-3149-9F08-9BDAF9BA38E2}" type="datetime3">
              <a:rPr lang="en-US" smtClean="0"/>
              <a:t>3 July 2026</a:t>
            </a:fld>
            <a:endParaRPr lang="en-GH"/>
          </a:p>
        </p:txBody>
      </p:sp>
      <p:sp>
        <p:nvSpPr>
          <p:cNvPr id="7" name="Slide Number Placeholder 6">
            <a:extLst>
              <a:ext uri="{FF2B5EF4-FFF2-40B4-BE49-F238E27FC236}">
                <a16:creationId xmlns:a16="http://schemas.microsoft.com/office/drawing/2014/main" id="{DB94E7B1-3E0C-2B91-CA6E-D487D173C93B}"/>
              </a:ext>
            </a:extLst>
          </p:cNvPr>
          <p:cNvSpPr>
            <a:spLocks noGrp="1"/>
          </p:cNvSpPr>
          <p:nvPr>
            <p:ph type="sldNum" sz="quarter" idx="12"/>
          </p:nvPr>
        </p:nvSpPr>
        <p:spPr/>
        <p:txBody>
          <a:bodyPr/>
          <a:lstStyle/>
          <a:p>
            <a:fld id="{844BC124-E8F2-314E-B275-FCD333FAB8D0}" type="slidenum">
              <a:rPr lang="en-GH" smtClean="0"/>
              <a:t>‹#›</a:t>
            </a:fld>
            <a:endParaRPr lang="en-GH"/>
          </a:p>
        </p:txBody>
      </p:sp>
    </p:spTree>
    <p:extLst>
      <p:ext uri="{BB962C8B-B14F-4D97-AF65-F5344CB8AC3E}">
        <p14:creationId xmlns:p14="http://schemas.microsoft.com/office/powerpoint/2010/main" val="30669888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CBA76-ACFB-2ADF-8C9C-7855CD3C2EEB}"/>
              </a:ext>
            </a:extLst>
          </p:cNvPr>
          <p:cNvSpPr>
            <a:spLocks noGrp="1"/>
          </p:cNvSpPr>
          <p:nvPr>
            <p:ph type="title" hasCustomPrompt="1"/>
          </p:nvPr>
        </p:nvSpPr>
        <p:spPr>
          <a:xfrm>
            <a:off x="839788" y="348344"/>
            <a:ext cx="10514012" cy="943428"/>
          </a:xfrm>
        </p:spPr>
        <p:txBody>
          <a:bodyPr anchor="ctr">
            <a:normAutofit/>
          </a:bodyPr>
          <a:lstStyle>
            <a:lvl1pPr>
              <a:defRPr sz="4000"/>
            </a:lvl1pPr>
          </a:lstStyle>
          <a:p>
            <a:r>
              <a:rPr lang="en-GB" dirty="0"/>
              <a:t>TITLE</a:t>
            </a:r>
            <a:endParaRPr lang="en-GH" dirty="0"/>
          </a:p>
        </p:txBody>
      </p:sp>
      <p:sp>
        <p:nvSpPr>
          <p:cNvPr id="3" name="Picture Placeholder 2">
            <a:extLst>
              <a:ext uri="{FF2B5EF4-FFF2-40B4-BE49-F238E27FC236}">
                <a16:creationId xmlns:a16="http://schemas.microsoft.com/office/drawing/2014/main" id="{AE9B870F-42EB-5FBD-BEFF-6A909FF6220D}"/>
              </a:ext>
            </a:extLst>
          </p:cNvPr>
          <p:cNvSpPr>
            <a:spLocks noGrp="1"/>
          </p:cNvSpPr>
          <p:nvPr>
            <p:ph type="pic" idx="1"/>
          </p:nvPr>
        </p:nvSpPr>
        <p:spPr>
          <a:xfrm>
            <a:off x="5183188" y="1494971"/>
            <a:ext cx="6172200" cy="436607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H" dirty="0"/>
          </a:p>
        </p:txBody>
      </p:sp>
      <p:sp>
        <p:nvSpPr>
          <p:cNvPr id="4" name="Text Placeholder 3">
            <a:extLst>
              <a:ext uri="{FF2B5EF4-FFF2-40B4-BE49-F238E27FC236}">
                <a16:creationId xmlns:a16="http://schemas.microsoft.com/office/drawing/2014/main" id="{12703BC0-1C7E-98A6-A28E-C9958A2167FF}"/>
              </a:ext>
            </a:extLst>
          </p:cNvPr>
          <p:cNvSpPr>
            <a:spLocks noGrp="1"/>
          </p:cNvSpPr>
          <p:nvPr>
            <p:ph type="body" sz="half" idx="2"/>
          </p:nvPr>
        </p:nvSpPr>
        <p:spPr>
          <a:xfrm>
            <a:off x="839788" y="1494971"/>
            <a:ext cx="3932237" cy="437401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Click to edit Master text styles</a:t>
            </a:r>
          </a:p>
        </p:txBody>
      </p:sp>
      <p:sp>
        <p:nvSpPr>
          <p:cNvPr id="5" name="Date Placeholder 4">
            <a:extLst>
              <a:ext uri="{FF2B5EF4-FFF2-40B4-BE49-F238E27FC236}">
                <a16:creationId xmlns:a16="http://schemas.microsoft.com/office/drawing/2014/main" id="{83F82CD5-78F9-4968-25C9-2B06112BEB6D}"/>
              </a:ext>
            </a:extLst>
          </p:cNvPr>
          <p:cNvSpPr>
            <a:spLocks noGrp="1"/>
          </p:cNvSpPr>
          <p:nvPr>
            <p:ph type="dt" sz="half" idx="10"/>
          </p:nvPr>
        </p:nvSpPr>
        <p:spPr/>
        <p:txBody>
          <a:bodyPr/>
          <a:lstStyle/>
          <a:p>
            <a:fld id="{A00A86AF-9A5D-AC40-AEFB-6C91378ED202}" type="datetime3">
              <a:rPr lang="en-US" smtClean="0"/>
              <a:t>3 July 2026</a:t>
            </a:fld>
            <a:endParaRPr lang="en-GH"/>
          </a:p>
        </p:txBody>
      </p:sp>
      <p:sp>
        <p:nvSpPr>
          <p:cNvPr id="7" name="Slide Number Placeholder 6">
            <a:extLst>
              <a:ext uri="{FF2B5EF4-FFF2-40B4-BE49-F238E27FC236}">
                <a16:creationId xmlns:a16="http://schemas.microsoft.com/office/drawing/2014/main" id="{CD5FCD5A-28BD-7AD3-0710-4B84027A6226}"/>
              </a:ext>
            </a:extLst>
          </p:cNvPr>
          <p:cNvSpPr>
            <a:spLocks noGrp="1"/>
          </p:cNvSpPr>
          <p:nvPr>
            <p:ph type="sldNum" sz="quarter" idx="12"/>
          </p:nvPr>
        </p:nvSpPr>
        <p:spPr/>
        <p:txBody>
          <a:bodyPr/>
          <a:lstStyle/>
          <a:p>
            <a:fld id="{844BC124-E8F2-314E-B275-FCD333FAB8D0}" type="slidenum">
              <a:rPr lang="en-GH" smtClean="0"/>
              <a:t>‹#›</a:t>
            </a:fld>
            <a:endParaRPr lang="en-GH"/>
          </a:p>
        </p:txBody>
      </p:sp>
    </p:spTree>
    <p:extLst>
      <p:ext uri="{BB962C8B-B14F-4D97-AF65-F5344CB8AC3E}">
        <p14:creationId xmlns:p14="http://schemas.microsoft.com/office/powerpoint/2010/main" val="1290807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A25BD-D12E-B4CE-5964-49B76223F4C0}"/>
              </a:ext>
            </a:extLst>
          </p:cNvPr>
          <p:cNvSpPr>
            <a:spLocks noGrp="1"/>
          </p:cNvSpPr>
          <p:nvPr>
            <p:ph type="title" hasCustomPrompt="1"/>
          </p:nvPr>
        </p:nvSpPr>
        <p:spPr/>
        <p:txBody>
          <a:bodyPr/>
          <a:lstStyle/>
          <a:p>
            <a:r>
              <a:rPr lang="en-GB" dirty="0"/>
              <a:t>TITLE</a:t>
            </a:r>
            <a:endParaRPr lang="en-GH" dirty="0"/>
          </a:p>
        </p:txBody>
      </p:sp>
      <p:sp>
        <p:nvSpPr>
          <p:cNvPr id="3" name="Vertical Text Placeholder 2">
            <a:extLst>
              <a:ext uri="{FF2B5EF4-FFF2-40B4-BE49-F238E27FC236}">
                <a16:creationId xmlns:a16="http://schemas.microsoft.com/office/drawing/2014/main" id="{3DC1B74C-8714-DE58-BC5D-703D4F7F1A8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4" name="Date Placeholder 3">
            <a:extLst>
              <a:ext uri="{FF2B5EF4-FFF2-40B4-BE49-F238E27FC236}">
                <a16:creationId xmlns:a16="http://schemas.microsoft.com/office/drawing/2014/main" id="{326B5F1C-B85F-335D-61A3-3A20EC2679A2}"/>
              </a:ext>
            </a:extLst>
          </p:cNvPr>
          <p:cNvSpPr>
            <a:spLocks noGrp="1"/>
          </p:cNvSpPr>
          <p:nvPr>
            <p:ph type="dt" sz="half" idx="10"/>
          </p:nvPr>
        </p:nvSpPr>
        <p:spPr/>
        <p:txBody>
          <a:bodyPr/>
          <a:lstStyle/>
          <a:p>
            <a:fld id="{6479A6AD-6034-CE4A-8EDF-4EF7D314A9B6}" type="datetime3">
              <a:rPr lang="en-US" smtClean="0"/>
              <a:t>3 July 2026</a:t>
            </a:fld>
            <a:endParaRPr lang="en-GH"/>
          </a:p>
        </p:txBody>
      </p:sp>
      <p:sp>
        <p:nvSpPr>
          <p:cNvPr id="6" name="Slide Number Placeholder 5">
            <a:extLst>
              <a:ext uri="{FF2B5EF4-FFF2-40B4-BE49-F238E27FC236}">
                <a16:creationId xmlns:a16="http://schemas.microsoft.com/office/drawing/2014/main" id="{68E3E8EB-B8D5-E852-2C33-F8F29CEA9C4F}"/>
              </a:ext>
            </a:extLst>
          </p:cNvPr>
          <p:cNvSpPr>
            <a:spLocks noGrp="1"/>
          </p:cNvSpPr>
          <p:nvPr>
            <p:ph type="sldNum" sz="quarter" idx="12"/>
          </p:nvPr>
        </p:nvSpPr>
        <p:spPr/>
        <p:txBody>
          <a:bodyPr/>
          <a:lstStyle/>
          <a:p>
            <a:fld id="{844BC124-E8F2-314E-B275-FCD333FAB8D0}" type="slidenum">
              <a:rPr lang="en-GH" smtClean="0"/>
              <a:t>‹#›</a:t>
            </a:fld>
            <a:endParaRPr lang="en-GH"/>
          </a:p>
        </p:txBody>
      </p:sp>
    </p:spTree>
    <p:extLst>
      <p:ext uri="{BB962C8B-B14F-4D97-AF65-F5344CB8AC3E}">
        <p14:creationId xmlns:p14="http://schemas.microsoft.com/office/powerpoint/2010/main" val="1741858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a:extLst>
              <a:ext uri="{FF2B5EF4-FFF2-40B4-BE49-F238E27FC236}">
                <a16:creationId xmlns:a16="http://schemas.microsoft.com/office/drawing/2014/main" id="{E0E2AEAC-9727-5BB4-5A1E-849C071B03B0}"/>
              </a:ext>
            </a:extLst>
          </p:cNvPr>
          <p:cNvSpPr/>
          <p:nvPr userDrawn="1"/>
        </p:nvSpPr>
        <p:spPr>
          <a:xfrm>
            <a:off x="10697028" y="6356349"/>
            <a:ext cx="667657" cy="379639"/>
          </a:xfrm>
          <a:prstGeom prst="roundRect">
            <a:avLst/>
          </a:prstGeom>
          <a:gradFill flip="none" rotWithShape="1">
            <a:gsLst>
              <a:gs pos="0">
                <a:srgbClr val="1A73E8">
                  <a:shade val="30000"/>
                  <a:satMod val="115000"/>
                </a:srgbClr>
              </a:gs>
              <a:gs pos="50000">
                <a:srgbClr val="1A73E8">
                  <a:shade val="67500"/>
                  <a:satMod val="115000"/>
                </a:srgbClr>
              </a:gs>
              <a:gs pos="100000">
                <a:srgbClr val="1A73E8">
                  <a:shade val="100000"/>
                  <a:satMod val="115000"/>
                </a:srgb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H" b="1" dirty="0">
              <a:solidFill>
                <a:schemeClr val="bg1"/>
              </a:solidFill>
            </a:endParaRPr>
          </a:p>
        </p:txBody>
      </p:sp>
      <p:sp>
        <p:nvSpPr>
          <p:cNvPr id="7" name="Rectangle 6">
            <a:extLst>
              <a:ext uri="{FF2B5EF4-FFF2-40B4-BE49-F238E27FC236}">
                <a16:creationId xmlns:a16="http://schemas.microsoft.com/office/drawing/2014/main" id="{3E92CF4B-2E8D-A2FC-411A-B161E6BF6C1E}"/>
              </a:ext>
            </a:extLst>
          </p:cNvPr>
          <p:cNvSpPr/>
          <p:nvPr userDrawn="1"/>
        </p:nvSpPr>
        <p:spPr>
          <a:xfrm>
            <a:off x="838200" y="356840"/>
            <a:ext cx="11353800" cy="947854"/>
          </a:xfrm>
          <a:prstGeom prst="rect">
            <a:avLst/>
          </a:prstGeom>
          <a:gradFill flip="none" rotWithShape="1">
            <a:gsLst>
              <a:gs pos="0">
                <a:srgbClr val="1A73E8">
                  <a:shade val="30000"/>
                  <a:satMod val="115000"/>
                </a:srgbClr>
              </a:gs>
              <a:gs pos="50000">
                <a:srgbClr val="1A73E8">
                  <a:shade val="67500"/>
                  <a:satMod val="115000"/>
                </a:srgbClr>
              </a:gs>
              <a:gs pos="100000">
                <a:srgbClr val="1A73E8">
                  <a:shade val="100000"/>
                  <a:satMod val="115000"/>
                </a:srgb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2" name="Title Placeholder 1">
            <a:extLst>
              <a:ext uri="{FF2B5EF4-FFF2-40B4-BE49-F238E27FC236}">
                <a16:creationId xmlns:a16="http://schemas.microsoft.com/office/drawing/2014/main" id="{FCE039C3-BA1D-8D7C-DFC8-DF90ECF38BC9}"/>
              </a:ext>
            </a:extLst>
          </p:cNvPr>
          <p:cNvSpPr>
            <a:spLocks noGrp="1"/>
          </p:cNvSpPr>
          <p:nvPr>
            <p:ph type="title"/>
          </p:nvPr>
        </p:nvSpPr>
        <p:spPr>
          <a:xfrm>
            <a:off x="838200" y="365126"/>
            <a:ext cx="10515600" cy="939568"/>
          </a:xfrm>
          <a:prstGeom prst="rect">
            <a:avLst/>
          </a:prstGeom>
        </p:spPr>
        <p:txBody>
          <a:bodyPr vert="horz" lIns="91440" tIns="45720" rIns="91440" bIns="45720" rtlCol="0" anchor="ctr">
            <a:normAutofit/>
          </a:bodyPr>
          <a:lstStyle/>
          <a:p>
            <a:r>
              <a:rPr lang="en-GB" dirty="0"/>
              <a:t>TITLE</a:t>
            </a:r>
            <a:endParaRPr lang="en-GH" dirty="0"/>
          </a:p>
        </p:txBody>
      </p:sp>
      <p:sp>
        <p:nvSpPr>
          <p:cNvPr id="3" name="Text Placeholder 2">
            <a:extLst>
              <a:ext uri="{FF2B5EF4-FFF2-40B4-BE49-F238E27FC236}">
                <a16:creationId xmlns:a16="http://schemas.microsoft.com/office/drawing/2014/main" id="{6B9D9280-F6F0-E945-1034-92A0D03CDF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GH" dirty="0"/>
          </a:p>
        </p:txBody>
      </p:sp>
      <p:sp>
        <p:nvSpPr>
          <p:cNvPr id="4" name="Date Placeholder 3">
            <a:extLst>
              <a:ext uri="{FF2B5EF4-FFF2-40B4-BE49-F238E27FC236}">
                <a16:creationId xmlns:a16="http://schemas.microsoft.com/office/drawing/2014/main" id="{DB49E99E-FD78-A14A-E0A0-15535A5024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8091BAF-1D20-1043-A325-BEAC3BD138E3}" type="datetime3">
              <a:rPr lang="en-US" smtClean="0"/>
              <a:t>3 July 2026</a:t>
            </a:fld>
            <a:endParaRPr lang="en-GH" dirty="0"/>
          </a:p>
        </p:txBody>
      </p:sp>
      <p:sp>
        <p:nvSpPr>
          <p:cNvPr id="6" name="Slide Number Placeholder 5">
            <a:extLst>
              <a:ext uri="{FF2B5EF4-FFF2-40B4-BE49-F238E27FC236}">
                <a16:creationId xmlns:a16="http://schemas.microsoft.com/office/drawing/2014/main" id="{D3857258-3FBC-7FB8-3DCC-4199063DE9BF}"/>
              </a:ext>
            </a:extLst>
          </p:cNvPr>
          <p:cNvSpPr>
            <a:spLocks noGrp="1"/>
          </p:cNvSpPr>
          <p:nvPr>
            <p:ph type="sldNum" sz="quarter" idx="4"/>
          </p:nvPr>
        </p:nvSpPr>
        <p:spPr>
          <a:xfrm>
            <a:off x="10686142" y="6356350"/>
            <a:ext cx="667657" cy="365125"/>
          </a:xfrm>
          <a:prstGeom prst="rect">
            <a:avLst/>
          </a:prstGeom>
        </p:spPr>
        <p:txBody>
          <a:bodyPr vert="horz" lIns="91440" tIns="45720" rIns="91440" bIns="45720" rtlCol="0" anchor="ctr"/>
          <a:lstStyle>
            <a:lvl1pPr algn="ctr">
              <a:defRPr sz="1600" b="1">
                <a:solidFill>
                  <a:schemeClr val="bg1"/>
                </a:solidFill>
              </a:defRPr>
            </a:lvl1pPr>
          </a:lstStyle>
          <a:p>
            <a:fld id="{CBBDAFE5-7139-9E4E-80B5-743FD3354D96}" type="slidenum">
              <a:rPr lang="en-GH" smtClean="0"/>
              <a:pPr/>
              <a:t>‹#›</a:t>
            </a:fld>
            <a:endParaRPr lang="en-GH" dirty="0"/>
          </a:p>
        </p:txBody>
      </p:sp>
      <p:sp>
        <p:nvSpPr>
          <p:cNvPr id="11" name="Oval 10">
            <a:extLst>
              <a:ext uri="{FF2B5EF4-FFF2-40B4-BE49-F238E27FC236}">
                <a16:creationId xmlns:a16="http://schemas.microsoft.com/office/drawing/2014/main" id="{C13E3FBB-E87F-9A2E-01E5-176F2DAD6B9F}"/>
              </a:ext>
            </a:extLst>
          </p:cNvPr>
          <p:cNvSpPr/>
          <p:nvPr userDrawn="1"/>
        </p:nvSpPr>
        <p:spPr>
          <a:xfrm>
            <a:off x="267629" y="139391"/>
            <a:ext cx="1416205" cy="1382751"/>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H"/>
          </a:p>
        </p:txBody>
      </p:sp>
      <p:pic>
        <p:nvPicPr>
          <p:cNvPr id="10" name="Picture 9" descr="A logo with a black and white circle&#10;&#10;AI-generated content may be incorrect.">
            <a:extLst>
              <a:ext uri="{FF2B5EF4-FFF2-40B4-BE49-F238E27FC236}">
                <a16:creationId xmlns:a16="http://schemas.microsoft.com/office/drawing/2014/main" id="{959892A9-0141-0042-5DAA-8C1476945E61}"/>
              </a:ext>
            </a:extLst>
          </p:cNvPr>
          <p:cNvPicPr>
            <a:picLocks noChangeAspect="1"/>
          </p:cNvPicPr>
          <p:nvPr userDrawn="1"/>
        </p:nvPicPr>
        <p:blipFill>
          <a:blip r:embed="rId12"/>
          <a:stretch>
            <a:fillRect/>
          </a:stretch>
        </p:blipFill>
        <p:spPr>
          <a:xfrm>
            <a:off x="345688" y="139876"/>
            <a:ext cx="1349297" cy="1349297"/>
          </a:xfrm>
          <a:prstGeom prst="rect">
            <a:avLst/>
          </a:prstGeom>
        </p:spPr>
      </p:pic>
    </p:spTree>
    <p:extLst>
      <p:ext uri="{BB962C8B-B14F-4D97-AF65-F5344CB8AC3E}">
        <p14:creationId xmlns:p14="http://schemas.microsoft.com/office/powerpoint/2010/main" val="13688056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p:txStyles>
    <p:titleStyle>
      <a:lvl1pPr algn="r" defTabSz="914400" rtl="0" eaLnBrk="1" latinLnBrk="0" hangingPunct="1">
        <a:lnSpc>
          <a:spcPct val="90000"/>
        </a:lnSpc>
        <a:spcBef>
          <a:spcPct val="0"/>
        </a:spcBef>
        <a:buNone/>
        <a:defRPr sz="4000" b="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B89A5-7E3D-287E-4909-C680B9BA8068}"/>
              </a:ext>
            </a:extLst>
          </p:cNvPr>
          <p:cNvSpPr>
            <a:spLocks noGrp="1"/>
          </p:cNvSpPr>
          <p:nvPr>
            <p:ph type="ctrTitle"/>
          </p:nvPr>
        </p:nvSpPr>
        <p:spPr/>
        <p:txBody>
          <a:bodyPr/>
          <a:lstStyle/>
          <a:p>
            <a:r>
              <a:rPr lang="en-US" dirty="0"/>
              <a:t>Financial Mobile Platform For Student</a:t>
            </a:r>
          </a:p>
        </p:txBody>
      </p:sp>
      <p:sp>
        <p:nvSpPr>
          <p:cNvPr id="3" name="Subtitle 2">
            <a:extLst>
              <a:ext uri="{FF2B5EF4-FFF2-40B4-BE49-F238E27FC236}">
                <a16:creationId xmlns:a16="http://schemas.microsoft.com/office/drawing/2014/main" id="{77B4D509-F496-2B06-67D0-30D1B03C3641}"/>
              </a:ext>
            </a:extLst>
          </p:cNvPr>
          <p:cNvSpPr>
            <a:spLocks noGrp="1"/>
          </p:cNvSpPr>
          <p:nvPr>
            <p:ph type="subTitle" idx="1"/>
          </p:nvPr>
        </p:nvSpPr>
        <p:spPr>
          <a:xfrm>
            <a:off x="1685925" y="4520685"/>
            <a:ext cx="9144000" cy="433162"/>
          </a:xfrm>
        </p:spPr>
        <p:txBody>
          <a:bodyPr/>
          <a:lstStyle/>
          <a:p>
            <a:pPr algn="l"/>
            <a:r>
              <a:rPr lang="en-GB" dirty="0"/>
              <a:t>Gilbert Offei						B203230057</a:t>
            </a:r>
          </a:p>
        </p:txBody>
      </p:sp>
      <p:sp>
        <p:nvSpPr>
          <p:cNvPr id="4" name="Date Placeholder 3">
            <a:extLst>
              <a:ext uri="{FF2B5EF4-FFF2-40B4-BE49-F238E27FC236}">
                <a16:creationId xmlns:a16="http://schemas.microsoft.com/office/drawing/2014/main" id="{EF4DCFB6-F5E3-48AD-1CFB-BE392C86094B}"/>
              </a:ext>
            </a:extLst>
          </p:cNvPr>
          <p:cNvSpPr>
            <a:spLocks noGrp="1"/>
          </p:cNvSpPr>
          <p:nvPr>
            <p:ph type="dt" sz="half" idx="10"/>
          </p:nvPr>
        </p:nvSpPr>
        <p:spPr/>
        <p:txBody>
          <a:bodyPr/>
          <a:lstStyle/>
          <a:p>
            <a:fld id="{BE1ACFB9-018D-8242-B104-CD45D632837B}" type="datetime3">
              <a:rPr lang="en-US" smtClean="0"/>
              <a:t>3 July 2026</a:t>
            </a:fld>
            <a:endParaRPr lang="en-GH" dirty="0"/>
          </a:p>
        </p:txBody>
      </p:sp>
      <p:sp>
        <p:nvSpPr>
          <p:cNvPr id="5" name="Slide Number Placeholder 4">
            <a:extLst>
              <a:ext uri="{FF2B5EF4-FFF2-40B4-BE49-F238E27FC236}">
                <a16:creationId xmlns:a16="http://schemas.microsoft.com/office/drawing/2014/main" id="{24069665-4C7D-9577-4A3F-652CBDFCBAB2}"/>
              </a:ext>
            </a:extLst>
          </p:cNvPr>
          <p:cNvSpPr>
            <a:spLocks noGrp="1"/>
          </p:cNvSpPr>
          <p:nvPr>
            <p:ph type="sldNum" sz="quarter" idx="12"/>
          </p:nvPr>
        </p:nvSpPr>
        <p:spPr/>
        <p:txBody>
          <a:bodyPr/>
          <a:lstStyle/>
          <a:p>
            <a:fld id="{844BC124-E8F2-314E-B275-FCD333FAB8D0}" type="slidenum">
              <a:rPr lang="en-GH" smtClean="0"/>
              <a:pPr/>
              <a:t>1</a:t>
            </a:fld>
            <a:endParaRPr lang="en-GH" dirty="0"/>
          </a:p>
        </p:txBody>
      </p:sp>
      <p:sp>
        <p:nvSpPr>
          <p:cNvPr id="7" name="TextBox 6">
            <a:extLst>
              <a:ext uri="{FF2B5EF4-FFF2-40B4-BE49-F238E27FC236}">
                <a16:creationId xmlns:a16="http://schemas.microsoft.com/office/drawing/2014/main" id="{111F34F7-2B3B-F75F-0487-6F90219204EC}"/>
              </a:ext>
            </a:extLst>
          </p:cNvPr>
          <p:cNvSpPr txBox="1"/>
          <p:nvPr/>
        </p:nvSpPr>
        <p:spPr>
          <a:xfrm>
            <a:off x="838200" y="5600409"/>
            <a:ext cx="3829050" cy="369332"/>
          </a:xfrm>
          <a:prstGeom prst="rect">
            <a:avLst/>
          </a:prstGeom>
          <a:noFill/>
        </p:spPr>
        <p:txBody>
          <a:bodyPr wrap="square">
            <a:spAutoFit/>
          </a:bodyPr>
          <a:lstStyle/>
          <a:p>
            <a:r>
              <a:rPr lang="en-GB" dirty="0"/>
              <a:t>Supervisor: Prof. S Okyere Dankwa</a:t>
            </a:r>
            <a:endParaRPr lang="en-US" dirty="0"/>
          </a:p>
        </p:txBody>
      </p:sp>
    </p:spTree>
    <p:extLst>
      <p:ext uri="{BB962C8B-B14F-4D97-AF65-F5344CB8AC3E}">
        <p14:creationId xmlns:p14="http://schemas.microsoft.com/office/powerpoint/2010/main" val="2959361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811BE-1911-FDF6-3089-989BBA1AEB5F}"/>
              </a:ext>
            </a:extLst>
          </p:cNvPr>
          <p:cNvSpPr>
            <a:spLocks noGrp="1"/>
          </p:cNvSpPr>
          <p:nvPr>
            <p:ph type="title"/>
          </p:nvPr>
        </p:nvSpPr>
        <p:spPr/>
        <p:txBody>
          <a:bodyPr/>
          <a:lstStyle/>
          <a:p>
            <a:r>
              <a:rPr lang="en-US" dirty="0"/>
              <a:t>Background Of Study</a:t>
            </a:r>
          </a:p>
        </p:txBody>
      </p:sp>
      <p:sp>
        <p:nvSpPr>
          <p:cNvPr id="3" name="Date Placeholder 2">
            <a:extLst>
              <a:ext uri="{FF2B5EF4-FFF2-40B4-BE49-F238E27FC236}">
                <a16:creationId xmlns:a16="http://schemas.microsoft.com/office/drawing/2014/main" id="{205B048A-9A20-93CE-B2DF-5089FB8996EA}"/>
              </a:ext>
            </a:extLst>
          </p:cNvPr>
          <p:cNvSpPr>
            <a:spLocks noGrp="1"/>
          </p:cNvSpPr>
          <p:nvPr>
            <p:ph type="dt" sz="half" idx="10"/>
          </p:nvPr>
        </p:nvSpPr>
        <p:spPr/>
        <p:txBody>
          <a:bodyPr/>
          <a:lstStyle/>
          <a:p>
            <a:fld id="{AE6296CE-6AE7-3949-AA96-17BA20FDD846}" type="datetime3">
              <a:rPr lang="en-US" smtClean="0"/>
              <a:t>3 July 2026</a:t>
            </a:fld>
            <a:endParaRPr lang="en-GH"/>
          </a:p>
        </p:txBody>
      </p:sp>
      <p:sp>
        <p:nvSpPr>
          <p:cNvPr id="4" name="Slide Number Placeholder 3">
            <a:extLst>
              <a:ext uri="{FF2B5EF4-FFF2-40B4-BE49-F238E27FC236}">
                <a16:creationId xmlns:a16="http://schemas.microsoft.com/office/drawing/2014/main" id="{9250095D-2C96-C405-AF88-29A6D87DB266}"/>
              </a:ext>
            </a:extLst>
          </p:cNvPr>
          <p:cNvSpPr>
            <a:spLocks noGrp="1"/>
          </p:cNvSpPr>
          <p:nvPr>
            <p:ph type="sldNum" sz="quarter" idx="12"/>
          </p:nvPr>
        </p:nvSpPr>
        <p:spPr/>
        <p:txBody>
          <a:bodyPr/>
          <a:lstStyle/>
          <a:p>
            <a:fld id="{844BC124-E8F2-314E-B275-FCD333FAB8D0}" type="slidenum">
              <a:rPr lang="en-GH" smtClean="0"/>
              <a:t>2</a:t>
            </a:fld>
            <a:endParaRPr lang="en-GH"/>
          </a:p>
        </p:txBody>
      </p:sp>
      <p:sp>
        <p:nvSpPr>
          <p:cNvPr id="6" name="TextBox 5">
            <a:extLst>
              <a:ext uri="{FF2B5EF4-FFF2-40B4-BE49-F238E27FC236}">
                <a16:creationId xmlns:a16="http://schemas.microsoft.com/office/drawing/2014/main" id="{B0F7FFD7-E40E-8B20-305A-EE4DBA4AF043}"/>
              </a:ext>
            </a:extLst>
          </p:cNvPr>
          <p:cNvSpPr txBox="1"/>
          <p:nvPr/>
        </p:nvSpPr>
        <p:spPr>
          <a:xfrm>
            <a:off x="838200" y="1559689"/>
            <a:ext cx="10515599" cy="3970318"/>
          </a:xfrm>
          <a:prstGeom prst="rect">
            <a:avLst/>
          </a:prstGeom>
          <a:noFill/>
        </p:spPr>
        <p:txBody>
          <a:bodyPr wrap="square">
            <a:spAutoFit/>
          </a:bodyPr>
          <a:lstStyle/>
          <a:p>
            <a:pPr algn="just">
              <a:buNone/>
            </a:pPr>
            <a:r>
              <a:rPr lang="en-US" sz="2800" dirty="0"/>
              <a:t>The rapid growth of ICT has transformed financial transactions through secure and efficient mobile payment systems (Dahlberg, Guo, &amp; Ondrus, 2025). Although mobile money has improved financial inclusion in Ghana (Aker &amp; Mbiti, 2022), Koforidua Technical University (KTU) still relies on manual fee payment and verification processes that cause delays and inconvenience. This study therefore proposes a Student Pay Mobile Application to simplify fee payments, provide instant digital receipts, and improve financial management.</a:t>
            </a:r>
          </a:p>
        </p:txBody>
      </p:sp>
    </p:spTree>
    <p:extLst>
      <p:ext uri="{BB962C8B-B14F-4D97-AF65-F5344CB8AC3E}">
        <p14:creationId xmlns:p14="http://schemas.microsoft.com/office/powerpoint/2010/main" val="3395678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03CF0-7018-01C0-76B3-78DD69F301BF}"/>
              </a:ext>
            </a:extLst>
          </p:cNvPr>
          <p:cNvSpPr>
            <a:spLocks noGrp="1"/>
          </p:cNvSpPr>
          <p:nvPr>
            <p:ph type="title"/>
          </p:nvPr>
        </p:nvSpPr>
        <p:spPr/>
        <p:txBody>
          <a:bodyPr/>
          <a:lstStyle/>
          <a:p>
            <a:r>
              <a:rPr lang="en-US" dirty="0"/>
              <a:t>Problem Statement</a:t>
            </a:r>
          </a:p>
        </p:txBody>
      </p:sp>
      <p:sp>
        <p:nvSpPr>
          <p:cNvPr id="3" name="Date Placeholder 2">
            <a:extLst>
              <a:ext uri="{FF2B5EF4-FFF2-40B4-BE49-F238E27FC236}">
                <a16:creationId xmlns:a16="http://schemas.microsoft.com/office/drawing/2014/main" id="{5FE71271-91D7-4232-320A-A1507C901FA7}"/>
              </a:ext>
            </a:extLst>
          </p:cNvPr>
          <p:cNvSpPr>
            <a:spLocks noGrp="1"/>
          </p:cNvSpPr>
          <p:nvPr>
            <p:ph type="dt" sz="half" idx="10"/>
          </p:nvPr>
        </p:nvSpPr>
        <p:spPr/>
        <p:txBody>
          <a:bodyPr/>
          <a:lstStyle/>
          <a:p>
            <a:fld id="{AE6296CE-6AE7-3949-AA96-17BA20FDD846}" type="datetime3">
              <a:rPr lang="en-US" smtClean="0"/>
              <a:t>3 July 2026</a:t>
            </a:fld>
            <a:endParaRPr lang="en-GH"/>
          </a:p>
        </p:txBody>
      </p:sp>
      <p:sp>
        <p:nvSpPr>
          <p:cNvPr id="4" name="Slide Number Placeholder 3">
            <a:extLst>
              <a:ext uri="{FF2B5EF4-FFF2-40B4-BE49-F238E27FC236}">
                <a16:creationId xmlns:a16="http://schemas.microsoft.com/office/drawing/2014/main" id="{9FCBDB7D-80E0-8246-2E79-FDE680592637}"/>
              </a:ext>
            </a:extLst>
          </p:cNvPr>
          <p:cNvSpPr>
            <a:spLocks noGrp="1"/>
          </p:cNvSpPr>
          <p:nvPr>
            <p:ph type="sldNum" sz="quarter" idx="12"/>
          </p:nvPr>
        </p:nvSpPr>
        <p:spPr/>
        <p:txBody>
          <a:bodyPr/>
          <a:lstStyle/>
          <a:p>
            <a:fld id="{844BC124-E8F2-314E-B275-FCD333FAB8D0}" type="slidenum">
              <a:rPr lang="en-GH" smtClean="0"/>
              <a:t>3</a:t>
            </a:fld>
            <a:endParaRPr lang="en-GH"/>
          </a:p>
        </p:txBody>
      </p:sp>
      <p:sp>
        <p:nvSpPr>
          <p:cNvPr id="6" name="TextBox 5">
            <a:extLst>
              <a:ext uri="{FF2B5EF4-FFF2-40B4-BE49-F238E27FC236}">
                <a16:creationId xmlns:a16="http://schemas.microsoft.com/office/drawing/2014/main" id="{B0CE4E21-90A4-8B39-B977-3229DF80E669}"/>
              </a:ext>
            </a:extLst>
          </p:cNvPr>
          <p:cNvSpPr txBox="1"/>
          <p:nvPr/>
        </p:nvSpPr>
        <p:spPr>
          <a:xfrm>
            <a:off x="838199" y="1443841"/>
            <a:ext cx="10515599" cy="4832092"/>
          </a:xfrm>
          <a:prstGeom prst="rect">
            <a:avLst/>
          </a:prstGeom>
          <a:noFill/>
        </p:spPr>
        <p:txBody>
          <a:bodyPr wrap="square">
            <a:spAutoFit/>
          </a:bodyPr>
          <a:lstStyle/>
          <a:p>
            <a:pPr algn="just">
              <a:buNone/>
            </a:pPr>
            <a:r>
              <a:rPr lang="en-US" sz="2800" dirty="0"/>
              <a:t>Despite the widespread adoption of mobile payment systems in Ghana, Koforidua Technical University (KTU) still relies largely on traditional fee payment methods that require students to visit banks. This process results in long queues, delays in registration, and risks associated with carrying cash and handling paper receipts. Although USSD-based payment options exist, they offer limited functionality and user convenience. Therefore, there is a need for a secure and user-friendly mobile payment application that provides real-time payment confirmation, digital receipts, and efficient transaction management to improve the university's fee payment process.</a:t>
            </a:r>
          </a:p>
        </p:txBody>
      </p:sp>
    </p:spTree>
    <p:extLst>
      <p:ext uri="{BB962C8B-B14F-4D97-AF65-F5344CB8AC3E}">
        <p14:creationId xmlns:p14="http://schemas.microsoft.com/office/powerpoint/2010/main" val="3168450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11C36-FA1C-F127-2B23-3DB94AB341A7}"/>
              </a:ext>
            </a:extLst>
          </p:cNvPr>
          <p:cNvSpPr>
            <a:spLocks noGrp="1"/>
          </p:cNvSpPr>
          <p:nvPr>
            <p:ph type="title"/>
          </p:nvPr>
        </p:nvSpPr>
        <p:spPr/>
        <p:txBody>
          <a:bodyPr/>
          <a:lstStyle/>
          <a:p>
            <a:r>
              <a:rPr lang="en-US" dirty="0"/>
              <a:t>Objective of study</a:t>
            </a:r>
          </a:p>
        </p:txBody>
      </p:sp>
      <p:sp>
        <p:nvSpPr>
          <p:cNvPr id="3" name="Date Placeholder 2">
            <a:extLst>
              <a:ext uri="{FF2B5EF4-FFF2-40B4-BE49-F238E27FC236}">
                <a16:creationId xmlns:a16="http://schemas.microsoft.com/office/drawing/2014/main" id="{69D9EB3C-A93C-3824-BCFB-C691BBDFC9FE}"/>
              </a:ext>
            </a:extLst>
          </p:cNvPr>
          <p:cNvSpPr>
            <a:spLocks noGrp="1"/>
          </p:cNvSpPr>
          <p:nvPr>
            <p:ph type="dt" sz="half" idx="10"/>
          </p:nvPr>
        </p:nvSpPr>
        <p:spPr/>
        <p:txBody>
          <a:bodyPr/>
          <a:lstStyle/>
          <a:p>
            <a:fld id="{AE6296CE-6AE7-3949-AA96-17BA20FDD846}" type="datetime3">
              <a:rPr lang="en-US" smtClean="0"/>
              <a:t>3 July 2026</a:t>
            </a:fld>
            <a:endParaRPr lang="en-GH"/>
          </a:p>
        </p:txBody>
      </p:sp>
      <p:sp>
        <p:nvSpPr>
          <p:cNvPr id="4" name="Slide Number Placeholder 3">
            <a:extLst>
              <a:ext uri="{FF2B5EF4-FFF2-40B4-BE49-F238E27FC236}">
                <a16:creationId xmlns:a16="http://schemas.microsoft.com/office/drawing/2014/main" id="{64828BF0-99AB-859D-6549-0D3B01F316FC}"/>
              </a:ext>
            </a:extLst>
          </p:cNvPr>
          <p:cNvSpPr>
            <a:spLocks noGrp="1"/>
          </p:cNvSpPr>
          <p:nvPr>
            <p:ph type="sldNum" sz="quarter" idx="12"/>
          </p:nvPr>
        </p:nvSpPr>
        <p:spPr/>
        <p:txBody>
          <a:bodyPr/>
          <a:lstStyle/>
          <a:p>
            <a:fld id="{844BC124-E8F2-314E-B275-FCD333FAB8D0}" type="slidenum">
              <a:rPr lang="en-GH" smtClean="0"/>
              <a:t>4</a:t>
            </a:fld>
            <a:endParaRPr lang="en-GH"/>
          </a:p>
        </p:txBody>
      </p:sp>
      <p:sp>
        <p:nvSpPr>
          <p:cNvPr id="10" name="TextBox 9">
            <a:extLst>
              <a:ext uri="{FF2B5EF4-FFF2-40B4-BE49-F238E27FC236}">
                <a16:creationId xmlns:a16="http://schemas.microsoft.com/office/drawing/2014/main" id="{0C7153D0-BE70-69DE-23CB-BC8E6F9E2E9C}"/>
              </a:ext>
            </a:extLst>
          </p:cNvPr>
          <p:cNvSpPr txBox="1"/>
          <p:nvPr/>
        </p:nvSpPr>
        <p:spPr>
          <a:xfrm>
            <a:off x="838200" y="1492702"/>
            <a:ext cx="10515599" cy="4675639"/>
          </a:xfrm>
          <a:prstGeom prst="rect">
            <a:avLst/>
          </a:prstGeom>
          <a:noFill/>
        </p:spPr>
        <p:txBody>
          <a:bodyPr wrap="square">
            <a:spAutoFit/>
          </a:bodyPr>
          <a:lstStyle/>
          <a:p>
            <a:pPr marL="0" marR="0" algn="just">
              <a:lnSpc>
                <a:spcPct val="107000"/>
              </a:lnSpc>
              <a:spcBef>
                <a:spcPts val="800"/>
              </a:spcBef>
              <a:spcAft>
                <a:spcPts val="400"/>
              </a:spcAft>
              <a:buNone/>
            </a:pPr>
            <a:r>
              <a:rPr lang="en-US" sz="2800" b="1" dirty="0">
                <a:solidFill>
                  <a:srgbClr val="000000"/>
                </a:solidFill>
                <a:latin typeface="Arial (Body)"/>
                <a:ea typeface="Times New Roman" panose="02020603050405020304" pitchFamily="18" charset="0"/>
                <a:cs typeface="Times New Roman" panose="02020603050405020304" pitchFamily="18" charset="0"/>
              </a:rPr>
              <a:t>Main</a:t>
            </a:r>
            <a:endParaRPr lang="en-US" sz="2800" b="1" dirty="0">
              <a:solidFill>
                <a:srgbClr val="000000"/>
              </a:solidFill>
              <a:effectLst/>
              <a:latin typeface="Arial (Body)"/>
              <a:ea typeface="Times New Roman" panose="02020603050405020304" pitchFamily="18" charset="0"/>
              <a:cs typeface="Times New Roman" panose="02020603050405020304" pitchFamily="18" charset="0"/>
            </a:endParaRPr>
          </a:p>
          <a:p>
            <a:pPr marL="0" marR="0" algn="just">
              <a:buNone/>
            </a:pPr>
            <a:r>
              <a:rPr lang="en-US" sz="2400" dirty="0">
                <a:latin typeface="Arial (Body)"/>
                <a:ea typeface="Times New Roman" panose="02020603050405020304" pitchFamily="18" charset="0"/>
              </a:rPr>
              <a:t>D</a:t>
            </a:r>
            <a:r>
              <a:rPr lang="en-US" sz="2400" dirty="0">
                <a:effectLst/>
                <a:latin typeface="Arial (Body)"/>
                <a:ea typeface="Times New Roman" panose="02020603050405020304" pitchFamily="18" charset="0"/>
              </a:rPr>
              <a:t>esign and development of financial mobile platform for students in Koforidua Technical University (KTU).</a:t>
            </a:r>
          </a:p>
          <a:p>
            <a:pPr marL="0" marR="0" algn="just">
              <a:lnSpc>
                <a:spcPct val="107000"/>
              </a:lnSpc>
              <a:spcBef>
                <a:spcPts val="800"/>
              </a:spcBef>
              <a:spcAft>
                <a:spcPts val="400"/>
              </a:spcAft>
              <a:buNone/>
            </a:pPr>
            <a:r>
              <a:rPr lang="en-US" sz="2800" b="1" dirty="0">
                <a:solidFill>
                  <a:srgbClr val="000000"/>
                </a:solidFill>
                <a:effectLst/>
                <a:latin typeface="Arial (Body)"/>
                <a:ea typeface="Times New Roman" panose="02020603050405020304" pitchFamily="18" charset="0"/>
                <a:cs typeface="Times New Roman" panose="02020603050405020304" pitchFamily="18" charset="0"/>
              </a:rPr>
              <a:t>Specific Objectives</a:t>
            </a:r>
          </a:p>
          <a:p>
            <a:pPr marL="342900" marR="0" lvl="0" indent="-342900" algn="just">
              <a:lnSpc>
                <a:spcPct val="115000"/>
              </a:lnSpc>
              <a:spcAft>
                <a:spcPts val="800"/>
              </a:spcAft>
              <a:buFont typeface="+mj-lt"/>
              <a:buAutoNum type="arabicPeriod"/>
              <a:tabLst>
                <a:tab pos="457200" algn="l"/>
              </a:tabLst>
            </a:pPr>
            <a:r>
              <a:rPr lang="en-US" sz="2400" b="0" dirty="0">
                <a:effectLst/>
                <a:latin typeface="Arial (Body)"/>
                <a:ea typeface="Times New Roman" panose="02020603050405020304" pitchFamily="18" charset="0"/>
              </a:rPr>
              <a:t>Design and develop a module that will integrate multiple digital payment options.</a:t>
            </a:r>
            <a:endParaRPr lang="en-US" sz="2400" b="1" dirty="0">
              <a:effectLst/>
              <a:latin typeface="Arial (Body)"/>
              <a:ea typeface="Calibri" panose="020F0502020204030204" pitchFamily="34" charset="0"/>
            </a:endParaRPr>
          </a:p>
          <a:p>
            <a:pPr marL="342900" marR="0" lvl="0" indent="-342900" algn="just">
              <a:lnSpc>
                <a:spcPct val="115000"/>
              </a:lnSpc>
              <a:spcAft>
                <a:spcPts val="800"/>
              </a:spcAft>
              <a:buFont typeface="+mj-lt"/>
              <a:buAutoNum type="arabicPeriod"/>
              <a:tabLst>
                <a:tab pos="457200" algn="l"/>
              </a:tabLst>
            </a:pPr>
            <a:r>
              <a:rPr lang="en-US" sz="2400" b="0" dirty="0">
                <a:effectLst/>
                <a:latin typeface="Arial (Body)"/>
                <a:ea typeface="Times New Roman" panose="02020603050405020304" pitchFamily="18" charset="0"/>
              </a:rPr>
              <a:t>Design and develop a module that will ensure real-time payment processing with instant confirmation notifications.</a:t>
            </a:r>
            <a:endParaRPr lang="en-US" sz="2400" b="1" dirty="0">
              <a:effectLst/>
              <a:latin typeface="Arial (Body)"/>
              <a:ea typeface="Calibri" panose="020F0502020204030204" pitchFamily="34" charset="0"/>
            </a:endParaRPr>
          </a:p>
          <a:p>
            <a:pPr marL="342900" marR="0" lvl="0" indent="-342900" algn="just">
              <a:lnSpc>
                <a:spcPct val="115000"/>
              </a:lnSpc>
              <a:spcAft>
                <a:spcPts val="800"/>
              </a:spcAft>
              <a:buFont typeface="+mj-lt"/>
              <a:buAutoNum type="arabicPeriod"/>
              <a:tabLst>
                <a:tab pos="457200" algn="l"/>
              </a:tabLst>
            </a:pPr>
            <a:r>
              <a:rPr lang="en-US" sz="2400" b="0" dirty="0">
                <a:effectLst/>
                <a:latin typeface="Arial (Body)"/>
                <a:ea typeface="Times New Roman" panose="02020603050405020304" pitchFamily="18" charset="0"/>
              </a:rPr>
              <a:t>Design and develop a module that will provide transaction histories with downloadable PDF receipts.</a:t>
            </a:r>
            <a:endParaRPr lang="en-US" sz="2400" b="1" dirty="0">
              <a:effectLst/>
              <a:latin typeface="Arial (Body)"/>
              <a:ea typeface="Calibri" panose="020F0502020204030204" pitchFamily="34" charset="0"/>
            </a:endParaRPr>
          </a:p>
        </p:txBody>
      </p:sp>
    </p:spTree>
    <p:extLst>
      <p:ext uri="{BB962C8B-B14F-4D97-AF65-F5344CB8AC3E}">
        <p14:creationId xmlns:p14="http://schemas.microsoft.com/office/powerpoint/2010/main" val="4155595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DC745-9AF1-395C-BB37-C015112963BD}"/>
              </a:ext>
            </a:extLst>
          </p:cNvPr>
          <p:cNvSpPr>
            <a:spLocks noGrp="1"/>
          </p:cNvSpPr>
          <p:nvPr>
            <p:ph type="title"/>
          </p:nvPr>
        </p:nvSpPr>
        <p:spPr/>
        <p:txBody>
          <a:bodyPr/>
          <a:lstStyle/>
          <a:p>
            <a:r>
              <a:rPr lang="en-US" dirty="0"/>
              <a:t>Literature Review</a:t>
            </a:r>
          </a:p>
        </p:txBody>
      </p:sp>
      <p:sp>
        <p:nvSpPr>
          <p:cNvPr id="3" name="Date Placeholder 2">
            <a:extLst>
              <a:ext uri="{FF2B5EF4-FFF2-40B4-BE49-F238E27FC236}">
                <a16:creationId xmlns:a16="http://schemas.microsoft.com/office/drawing/2014/main" id="{7E2C0B18-7DAB-5AE5-AE9D-5D5401A8C056}"/>
              </a:ext>
            </a:extLst>
          </p:cNvPr>
          <p:cNvSpPr>
            <a:spLocks noGrp="1"/>
          </p:cNvSpPr>
          <p:nvPr>
            <p:ph type="dt" sz="half" idx="10"/>
          </p:nvPr>
        </p:nvSpPr>
        <p:spPr/>
        <p:txBody>
          <a:bodyPr/>
          <a:lstStyle/>
          <a:p>
            <a:fld id="{AE6296CE-6AE7-3949-AA96-17BA20FDD846}" type="datetime3">
              <a:rPr lang="en-US" smtClean="0"/>
              <a:t>3 July 2026</a:t>
            </a:fld>
            <a:endParaRPr lang="en-GH"/>
          </a:p>
        </p:txBody>
      </p:sp>
      <p:sp>
        <p:nvSpPr>
          <p:cNvPr id="4" name="Slide Number Placeholder 3">
            <a:extLst>
              <a:ext uri="{FF2B5EF4-FFF2-40B4-BE49-F238E27FC236}">
                <a16:creationId xmlns:a16="http://schemas.microsoft.com/office/drawing/2014/main" id="{D58E7705-3947-65C8-A4CB-5E5C32A519B5}"/>
              </a:ext>
            </a:extLst>
          </p:cNvPr>
          <p:cNvSpPr>
            <a:spLocks noGrp="1"/>
          </p:cNvSpPr>
          <p:nvPr>
            <p:ph type="sldNum" sz="quarter" idx="12"/>
          </p:nvPr>
        </p:nvSpPr>
        <p:spPr/>
        <p:txBody>
          <a:bodyPr/>
          <a:lstStyle/>
          <a:p>
            <a:fld id="{844BC124-E8F2-314E-B275-FCD333FAB8D0}" type="slidenum">
              <a:rPr lang="en-GH" smtClean="0"/>
              <a:t>5</a:t>
            </a:fld>
            <a:endParaRPr lang="en-GH"/>
          </a:p>
        </p:txBody>
      </p:sp>
      <p:pic>
        <p:nvPicPr>
          <p:cNvPr id="5" name="Picture 4">
            <a:extLst>
              <a:ext uri="{FF2B5EF4-FFF2-40B4-BE49-F238E27FC236}">
                <a16:creationId xmlns:a16="http://schemas.microsoft.com/office/drawing/2014/main" id="{E1BD14C7-1055-B9A1-12E3-D0AF8D04F2A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19351" y="2012809"/>
            <a:ext cx="8054970" cy="4343541"/>
          </a:xfrm>
          <a:prstGeom prst="rect">
            <a:avLst/>
          </a:prstGeom>
          <a:noFill/>
          <a:ln>
            <a:noFill/>
          </a:ln>
        </p:spPr>
      </p:pic>
      <p:sp>
        <p:nvSpPr>
          <p:cNvPr id="7" name="TextBox 6">
            <a:extLst>
              <a:ext uri="{FF2B5EF4-FFF2-40B4-BE49-F238E27FC236}">
                <a16:creationId xmlns:a16="http://schemas.microsoft.com/office/drawing/2014/main" id="{E0B524A8-332C-D9B9-3B0E-6FC846997EE0}"/>
              </a:ext>
            </a:extLst>
          </p:cNvPr>
          <p:cNvSpPr txBox="1"/>
          <p:nvPr/>
        </p:nvSpPr>
        <p:spPr>
          <a:xfrm>
            <a:off x="3333749" y="1466151"/>
            <a:ext cx="5057775" cy="523220"/>
          </a:xfrm>
          <a:prstGeom prst="rect">
            <a:avLst/>
          </a:prstGeom>
          <a:noFill/>
        </p:spPr>
        <p:txBody>
          <a:bodyPr wrap="square">
            <a:spAutoFit/>
          </a:bodyPr>
          <a:lstStyle/>
          <a:p>
            <a:r>
              <a:rPr lang="en-US" sz="2800" kern="0" dirty="0">
                <a:effectLst/>
                <a:latin typeface="Arial (Body)"/>
                <a:ea typeface="Calibri" panose="020F0502020204030204" pitchFamily="34" charset="0"/>
              </a:rPr>
              <a:t>Context Diagram For Pay4Me</a:t>
            </a:r>
            <a:endParaRPr lang="en-US" sz="2800" dirty="0">
              <a:latin typeface="Arial (Body)"/>
            </a:endParaRPr>
          </a:p>
        </p:txBody>
      </p:sp>
    </p:spTree>
    <p:extLst>
      <p:ext uri="{BB962C8B-B14F-4D97-AF65-F5344CB8AC3E}">
        <p14:creationId xmlns:p14="http://schemas.microsoft.com/office/powerpoint/2010/main" val="2840093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70CC7-1348-967E-64B9-83ED51AE9A2A}"/>
              </a:ext>
            </a:extLst>
          </p:cNvPr>
          <p:cNvSpPr>
            <a:spLocks noGrp="1"/>
          </p:cNvSpPr>
          <p:nvPr>
            <p:ph type="title"/>
          </p:nvPr>
        </p:nvSpPr>
        <p:spPr/>
        <p:txBody>
          <a:bodyPr/>
          <a:lstStyle/>
          <a:p>
            <a:r>
              <a:rPr lang="en-US" dirty="0"/>
              <a:t>Methodology</a:t>
            </a:r>
          </a:p>
        </p:txBody>
      </p:sp>
      <p:sp>
        <p:nvSpPr>
          <p:cNvPr id="3" name="Date Placeholder 2">
            <a:extLst>
              <a:ext uri="{FF2B5EF4-FFF2-40B4-BE49-F238E27FC236}">
                <a16:creationId xmlns:a16="http://schemas.microsoft.com/office/drawing/2014/main" id="{FA998D60-A0CC-4C3F-1479-60D5C33C0C51}"/>
              </a:ext>
            </a:extLst>
          </p:cNvPr>
          <p:cNvSpPr>
            <a:spLocks noGrp="1"/>
          </p:cNvSpPr>
          <p:nvPr>
            <p:ph type="dt" sz="half" idx="10"/>
          </p:nvPr>
        </p:nvSpPr>
        <p:spPr/>
        <p:txBody>
          <a:bodyPr/>
          <a:lstStyle/>
          <a:p>
            <a:fld id="{AE6296CE-6AE7-3949-AA96-17BA20FDD846}" type="datetime3">
              <a:rPr lang="en-US" smtClean="0"/>
              <a:t>3 July 2026</a:t>
            </a:fld>
            <a:endParaRPr lang="en-GH"/>
          </a:p>
        </p:txBody>
      </p:sp>
      <p:sp>
        <p:nvSpPr>
          <p:cNvPr id="4" name="Slide Number Placeholder 3">
            <a:extLst>
              <a:ext uri="{FF2B5EF4-FFF2-40B4-BE49-F238E27FC236}">
                <a16:creationId xmlns:a16="http://schemas.microsoft.com/office/drawing/2014/main" id="{08C266A8-CEB1-41BB-E9DF-CE34F93BAD87}"/>
              </a:ext>
            </a:extLst>
          </p:cNvPr>
          <p:cNvSpPr>
            <a:spLocks noGrp="1"/>
          </p:cNvSpPr>
          <p:nvPr>
            <p:ph type="sldNum" sz="quarter" idx="12"/>
          </p:nvPr>
        </p:nvSpPr>
        <p:spPr/>
        <p:txBody>
          <a:bodyPr/>
          <a:lstStyle/>
          <a:p>
            <a:fld id="{844BC124-E8F2-314E-B275-FCD333FAB8D0}" type="slidenum">
              <a:rPr lang="en-GH" smtClean="0"/>
              <a:t>6</a:t>
            </a:fld>
            <a:endParaRPr lang="en-GH"/>
          </a:p>
        </p:txBody>
      </p:sp>
      <p:pic>
        <p:nvPicPr>
          <p:cNvPr id="6" name="Picture 5">
            <a:extLst>
              <a:ext uri="{FF2B5EF4-FFF2-40B4-BE49-F238E27FC236}">
                <a16:creationId xmlns:a16="http://schemas.microsoft.com/office/drawing/2014/main" id="{FBFE740D-93BD-0AEC-26A6-37E9E447286D}"/>
              </a:ext>
            </a:extLst>
          </p:cNvPr>
          <p:cNvPicPr>
            <a:picLocks noChangeAspect="1"/>
          </p:cNvPicPr>
          <p:nvPr/>
        </p:nvPicPr>
        <p:blipFill>
          <a:blip r:embed="rId2"/>
          <a:stretch>
            <a:fillRect/>
          </a:stretch>
        </p:blipFill>
        <p:spPr>
          <a:xfrm>
            <a:off x="1924050" y="1304694"/>
            <a:ext cx="10067924" cy="4948758"/>
          </a:xfrm>
          <a:prstGeom prst="rect">
            <a:avLst/>
          </a:prstGeom>
        </p:spPr>
      </p:pic>
      <p:sp>
        <p:nvSpPr>
          <p:cNvPr id="8" name="TextBox 7">
            <a:extLst>
              <a:ext uri="{FF2B5EF4-FFF2-40B4-BE49-F238E27FC236}">
                <a16:creationId xmlns:a16="http://schemas.microsoft.com/office/drawing/2014/main" id="{2348674D-6759-E35A-FCC9-86840413EE14}"/>
              </a:ext>
            </a:extLst>
          </p:cNvPr>
          <p:cNvSpPr txBox="1"/>
          <p:nvPr/>
        </p:nvSpPr>
        <p:spPr>
          <a:xfrm>
            <a:off x="485775" y="1818554"/>
            <a:ext cx="4114800" cy="523220"/>
          </a:xfrm>
          <a:prstGeom prst="rect">
            <a:avLst/>
          </a:prstGeom>
          <a:noFill/>
        </p:spPr>
        <p:txBody>
          <a:bodyPr wrap="square">
            <a:spAutoFit/>
          </a:bodyPr>
          <a:lstStyle/>
          <a:p>
            <a:r>
              <a:rPr lang="en-US" sz="2800" dirty="0">
                <a:latin typeface="Arial (Body)"/>
              </a:rPr>
              <a:t>Tools and Technologies</a:t>
            </a:r>
          </a:p>
        </p:txBody>
      </p:sp>
      <p:sp>
        <p:nvSpPr>
          <p:cNvPr id="10" name="TextBox 9">
            <a:extLst>
              <a:ext uri="{FF2B5EF4-FFF2-40B4-BE49-F238E27FC236}">
                <a16:creationId xmlns:a16="http://schemas.microsoft.com/office/drawing/2014/main" id="{D3A83188-E496-2C44-AFBF-A5918E6649FE}"/>
              </a:ext>
            </a:extLst>
          </p:cNvPr>
          <p:cNvSpPr txBox="1"/>
          <p:nvPr/>
        </p:nvSpPr>
        <p:spPr>
          <a:xfrm>
            <a:off x="485775" y="2444672"/>
            <a:ext cx="4114800" cy="1477328"/>
          </a:xfrm>
          <a:prstGeom prst="rect">
            <a:avLst/>
          </a:prstGeom>
          <a:noFill/>
        </p:spPr>
        <p:txBody>
          <a:bodyPr wrap="square">
            <a:spAutoFit/>
          </a:bodyPr>
          <a:lstStyle/>
          <a:p>
            <a:pPr marL="342900" indent="-342900">
              <a:buAutoNum type="arabicPeriod"/>
            </a:pPr>
            <a:r>
              <a:rPr lang="en-US" dirty="0">
                <a:latin typeface="Arial (Body)"/>
              </a:rPr>
              <a:t>React Native for Mobile app</a:t>
            </a:r>
          </a:p>
          <a:p>
            <a:pPr marL="342900" indent="-342900">
              <a:buAutoNum type="arabicPeriod"/>
            </a:pPr>
            <a:r>
              <a:rPr lang="en-US" dirty="0">
                <a:latin typeface="Arial (Body)"/>
              </a:rPr>
              <a:t>PHP for backend API</a:t>
            </a:r>
          </a:p>
          <a:p>
            <a:pPr marL="342900" indent="-342900">
              <a:buAutoNum type="arabicPeriod"/>
            </a:pPr>
            <a:r>
              <a:rPr lang="en-US" dirty="0">
                <a:latin typeface="Arial (Body)"/>
              </a:rPr>
              <a:t>MySQL database</a:t>
            </a:r>
          </a:p>
          <a:p>
            <a:pPr marL="342900" indent="-342900">
              <a:buAutoNum type="arabicPeriod"/>
            </a:pPr>
            <a:r>
              <a:rPr lang="en-US" dirty="0">
                <a:latin typeface="Arial (Body)"/>
              </a:rPr>
              <a:t>WebStorm and </a:t>
            </a:r>
            <a:r>
              <a:rPr lang="en-US" dirty="0" err="1">
                <a:latin typeface="Arial (Body)"/>
              </a:rPr>
              <a:t>PHPStorm</a:t>
            </a:r>
            <a:r>
              <a:rPr lang="en-US" dirty="0">
                <a:latin typeface="Arial (Body)"/>
              </a:rPr>
              <a:t> development environment </a:t>
            </a:r>
          </a:p>
        </p:txBody>
      </p:sp>
    </p:spTree>
    <p:extLst>
      <p:ext uri="{BB962C8B-B14F-4D97-AF65-F5344CB8AC3E}">
        <p14:creationId xmlns:p14="http://schemas.microsoft.com/office/powerpoint/2010/main" val="3750204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87234-3B99-D0D8-0820-BD8EC3E7EA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D599BE-2607-A4F7-E440-F00F6C6ED825}"/>
              </a:ext>
            </a:extLst>
          </p:cNvPr>
          <p:cNvSpPr>
            <a:spLocks noGrp="1"/>
          </p:cNvSpPr>
          <p:nvPr>
            <p:ph type="title"/>
          </p:nvPr>
        </p:nvSpPr>
        <p:spPr/>
        <p:txBody>
          <a:bodyPr/>
          <a:lstStyle/>
          <a:p>
            <a:r>
              <a:rPr lang="en-US" dirty="0"/>
              <a:t>Methodology</a:t>
            </a:r>
          </a:p>
        </p:txBody>
      </p:sp>
      <p:sp>
        <p:nvSpPr>
          <p:cNvPr id="3" name="Date Placeholder 2">
            <a:extLst>
              <a:ext uri="{FF2B5EF4-FFF2-40B4-BE49-F238E27FC236}">
                <a16:creationId xmlns:a16="http://schemas.microsoft.com/office/drawing/2014/main" id="{15818330-8899-85A0-3E67-981419D147A0}"/>
              </a:ext>
            </a:extLst>
          </p:cNvPr>
          <p:cNvSpPr>
            <a:spLocks noGrp="1"/>
          </p:cNvSpPr>
          <p:nvPr>
            <p:ph type="dt" sz="half" idx="10"/>
          </p:nvPr>
        </p:nvSpPr>
        <p:spPr/>
        <p:txBody>
          <a:bodyPr/>
          <a:lstStyle/>
          <a:p>
            <a:fld id="{AE6296CE-6AE7-3949-AA96-17BA20FDD846}" type="datetime3">
              <a:rPr lang="en-US" smtClean="0"/>
              <a:t>3 July 2026</a:t>
            </a:fld>
            <a:endParaRPr lang="en-GH"/>
          </a:p>
        </p:txBody>
      </p:sp>
      <p:sp>
        <p:nvSpPr>
          <p:cNvPr id="4" name="Slide Number Placeholder 3">
            <a:extLst>
              <a:ext uri="{FF2B5EF4-FFF2-40B4-BE49-F238E27FC236}">
                <a16:creationId xmlns:a16="http://schemas.microsoft.com/office/drawing/2014/main" id="{18BF099C-36BE-9F7A-3AE8-BBA97BAEBAB1}"/>
              </a:ext>
            </a:extLst>
          </p:cNvPr>
          <p:cNvSpPr>
            <a:spLocks noGrp="1"/>
          </p:cNvSpPr>
          <p:nvPr>
            <p:ph type="sldNum" sz="quarter" idx="12"/>
          </p:nvPr>
        </p:nvSpPr>
        <p:spPr/>
        <p:txBody>
          <a:bodyPr/>
          <a:lstStyle/>
          <a:p>
            <a:fld id="{844BC124-E8F2-314E-B275-FCD333FAB8D0}" type="slidenum">
              <a:rPr lang="en-GH" smtClean="0"/>
              <a:t>7</a:t>
            </a:fld>
            <a:endParaRPr lang="en-GH"/>
          </a:p>
        </p:txBody>
      </p:sp>
      <p:pic>
        <p:nvPicPr>
          <p:cNvPr id="7" name="Picture 6">
            <a:extLst>
              <a:ext uri="{FF2B5EF4-FFF2-40B4-BE49-F238E27FC236}">
                <a16:creationId xmlns:a16="http://schemas.microsoft.com/office/drawing/2014/main" id="{323B1F94-AA5C-60DB-29D8-61AC8ABCF033}"/>
              </a:ext>
            </a:extLst>
          </p:cNvPr>
          <p:cNvPicPr>
            <a:picLocks noChangeAspect="1"/>
          </p:cNvPicPr>
          <p:nvPr/>
        </p:nvPicPr>
        <p:blipFill>
          <a:blip r:embed="rId2"/>
          <a:stretch>
            <a:fillRect/>
          </a:stretch>
        </p:blipFill>
        <p:spPr>
          <a:xfrm>
            <a:off x="3048001" y="1589954"/>
            <a:ext cx="6334124" cy="4766396"/>
          </a:xfrm>
          <a:prstGeom prst="rect">
            <a:avLst/>
          </a:prstGeom>
        </p:spPr>
      </p:pic>
      <p:sp>
        <p:nvSpPr>
          <p:cNvPr id="11" name="TextBox 10">
            <a:extLst>
              <a:ext uri="{FF2B5EF4-FFF2-40B4-BE49-F238E27FC236}">
                <a16:creationId xmlns:a16="http://schemas.microsoft.com/office/drawing/2014/main" id="{3DE8DAA9-277D-B25B-DC12-56312DA9F338}"/>
              </a:ext>
            </a:extLst>
          </p:cNvPr>
          <p:cNvSpPr txBox="1"/>
          <p:nvPr/>
        </p:nvSpPr>
        <p:spPr>
          <a:xfrm>
            <a:off x="552450" y="1589954"/>
            <a:ext cx="3743325" cy="954107"/>
          </a:xfrm>
          <a:prstGeom prst="rect">
            <a:avLst/>
          </a:prstGeom>
          <a:noFill/>
        </p:spPr>
        <p:txBody>
          <a:bodyPr wrap="square">
            <a:spAutoFit/>
          </a:bodyPr>
          <a:lstStyle/>
          <a:p>
            <a:r>
              <a:rPr lang="en-US" sz="2800" kern="0" dirty="0">
                <a:effectLst/>
                <a:latin typeface="Arial (Body)"/>
                <a:ea typeface="Calibri" panose="020F0502020204030204" pitchFamily="34" charset="0"/>
              </a:rPr>
              <a:t>Context Diagram For </a:t>
            </a:r>
            <a:r>
              <a:rPr lang="en-US" sz="2800" kern="0" dirty="0">
                <a:latin typeface="Arial (Body)"/>
                <a:ea typeface="Calibri" panose="020F0502020204030204" pitchFamily="34" charset="0"/>
              </a:rPr>
              <a:t>Proposed System</a:t>
            </a:r>
            <a:endParaRPr lang="en-US" sz="2800" dirty="0">
              <a:latin typeface="Arial (Body)"/>
            </a:endParaRPr>
          </a:p>
        </p:txBody>
      </p:sp>
    </p:spTree>
    <p:extLst>
      <p:ext uri="{BB962C8B-B14F-4D97-AF65-F5344CB8AC3E}">
        <p14:creationId xmlns:p14="http://schemas.microsoft.com/office/powerpoint/2010/main" val="3016884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A0FDC-8111-9EAA-C3D9-1D792BF645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740DE8-9701-0AA0-67B5-AC07B5EC6E9E}"/>
              </a:ext>
            </a:extLst>
          </p:cNvPr>
          <p:cNvSpPr>
            <a:spLocks noGrp="1"/>
          </p:cNvSpPr>
          <p:nvPr>
            <p:ph type="title"/>
          </p:nvPr>
        </p:nvSpPr>
        <p:spPr/>
        <p:txBody>
          <a:bodyPr/>
          <a:lstStyle/>
          <a:p>
            <a:r>
              <a:rPr lang="en-US" dirty="0"/>
              <a:t>Methodology</a:t>
            </a:r>
          </a:p>
        </p:txBody>
      </p:sp>
      <p:sp>
        <p:nvSpPr>
          <p:cNvPr id="3" name="Date Placeholder 2">
            <a:extLst>
              <a:ext uri="{FF2B5EF4-FFF2-40B4-BE49-F238E27FC236}">
                <a16:creationId xmlns:a16="http://schemas.microsoft.com/office/drawing/2014/main" id="{BB8FBD98-55BE-6BDD-28E1-4CBFD489A69A}"/>
              </a:ext>
            </a:extLst>
          </p:cNvPr>
          <p:cNvSpPr>
            <a:spLocks noGrp="1"/>
          </p:cNvSpPr>
          <p:nvPr>
            <p:ph type="dt" sz="half" idx="10"/>
          </p:nvPr>
        </p:nvSpPr>
        <p:spPr>
          <a:xfrm>
            <a:off x="9121356" y="6356350"/>
            <a:ext cx="1009650" cy="365125"/>
          </a:xfrm>
        </p:spPr>
        <p:txBody>
          <a:bodyPr/>
          <a:lstStyle/>
          <a:p>
            <a:fld id="{AE6296CE-6AE7-3949-AA96-17BA20FDD846}" type="datetime3">
              <a:rPr lang="en-US" smtClean="0"/>
              <a:t>3 July 2026</a:t>
            </a:fld>
            <a:endParaRPr lang="en-GH" dirty="0"/>
          </a:p>
        </p:txBody>
      </p:sp>
      <p:sp>
        <p:nvSpPr>
          <p:cNvPr id="4" name="Slide Number Placeholder 3">
            <a:extLst>
              <a:ext uri="{FF2B5EF4-FFF2-40B4-BE49-F238E27FC236}">
                <a16:creationId xmlns:a16="http://schemas.microsoft.com/office/drawing/2014/main" id="{0F134F44-A928-BF26-3FF9-8FB1AA1D63B6}"/>
              </a:ext>
            </a:extLst>
          </p:cNvPr>
          <p:cNvSpPr>
            <a:spLocks noGrp="1"/>
          </p:cNvSpPr>
          <p:nvPr>
            <p:ph type="sldNum" sz="quarter" idx="12"/>
          </p:nvPr>
        </p:nvSpPr>
        <p:spPr/>
        <p:txBody>
          <a:bodyPr/>
          <a:lstStyle/>
          <a:p>
            <a:fld id="{844BC124-E8F2-314E-B275-FCD333FAB8D0}" type="slidenum">
              <a:rPr lang="en-GH" smtClean="0"/>
              <a:t>8</a:t>
            </a:fld>
            <a:endParaRPr lang="en-GH" dirty="0"/>
          </a:p>
        </p:txBody>
      </p:sp>
      <p:pic>
        <p:nvPicPr>
          <p:cNvPr id="10" name="Picture 9">
            <a:extLst>
              <a:ext uri="{FF2B5EF4-FFF2-40B4-BE49-F238E27FC236}">
                <a16:creationId xmlns:a16="http://schemas.microsoft.com/office/drawing/2014/main" id="{152DE1CD-836C-BC29-6D98-8C209A90362E}"/>
              </a:ext>
            </a:extLst>
          </p:cNvPr>
          <p:cNvPicPr>
            <a:picLocks noChangeAspect="1"/>
          </p:cNvPicPr>
          <p:nvPr/>
        </p:nvPicPr>
        <p:blipFill>
          <a:blip r:embed="rId2"/>
          <a:stretch>
            <a:fillRect/>
          </a:stretch>
        </p:blipFill>
        <p:spPr>
          <a:xfrm>
            <a:off x="838200" y="1374374"/>
            <a:ext cx="7728021" cy="5235975"/>
          </a:xfrm>
          <a:prstGeom prst="rect">
            <a:avLst/>
          </a:prstGeom>
        </p:spPr>
      </p:pic>
      <p:sp>
        <p:nvSpPr>
          <p:cNvPr id="12" name="TextBox 11">
            <a:extLst>
              <a:ext uri="{FF2B5EF4-FFF2-40B4-BE49-F238E27FC236}">
                <a16:creationId xmlns:a16="http://schemas.microsoft.com/office/drawing/2014/main" id="{EB186876-35DE-5D85-FD1C-ACE9F40B0E96}"/>
              </a:ext>
            </a:extLst>
          </p:cNvPr>
          <p:cNvSpPr txBox="1"/>
          <p:nvPr/>
        </p:nvSpPr>
        <p:spPr>
          <a:xfrm>
            <a:off x="8566221" y="3180629"/>
            <a:ext cx="3263829" cy="1384995"/>
          </a:xfrm>
          <a:prstGeom prst="rect">
            <a:avLst/>
          </a:prstGeom>
          <a:noFill/>
        </p:spPr>
        <p:txBody>
          <a:bodyPr wrap="square">
            <a:spAutoFit/>
          </a:bodyPr>
          <a:lstStyle/>
          <a:p>
            <a:r>
              <a:rPr lang="en-US" sz="2800" kern="0" dirty="0">
                <a:latin typeface="Arial (Body)"/>
                <a:ea typeface="Calibri" panose="020F0502020204030204" pitchFamily="34" charset="0"/>
              </a:rPr>
              <a:t>Sequence</a:t>
            </a:r>
            <a:r>
              <a:rPr lang="en-US" sz="2800" kern="0" dirty="0">
                <a:effectLst/>
                <a:latin typeface="Arial (Body)"/>
                <a:ea typeface="Calibri" panose="020F0502020204030204" pitchFamily="34" charset="0"/>
              </a:rPr>
              <a:t> Diagram For </a:t>
            </a:r>
            <a:r>
              <a:rPr lang="en-US" sz="2800" kern="0" dirty="0">
                <a:latin typeface="Arial (Body)"/>
                <a:ea typeface="Calibri" panose="020F0502020204030204" pitchFamily="34" charset="0"/>
              </a:rPr>
              <a:t>Proposed System</a:t>
            </a:r>
            <a:endParaRPr lang="en-US" sz="2800" dirty="0">
              <a:latin typeface="Arial (Body)"/>
            </a:endParaRPr>
          </a:p>
        </p:txBody>
      </p:sp>
    </p:spTree>
    <p:extLst>
      <p:ext uri="{BB962C8B-B14F-4D97-AF65-F5344CB8AC3E}">
        <p14:creationId xmlns:p14="http://schemas.microsoft.com/office/powerpoint/2010/main" val="29796467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77134-986D-1970-0C5C-1B1B2EAF4422}"/>
              </a:ext>
            </a:extLst>
          </p:cNvPr>
          <p:cNvSpPr>
            <a:spLocks noGrp="1"/>
          </p:cNvSpPr>
          <p:nvPr>
            <p:ph type="title"/>
          </p:nvPr>
        </p:nvSpPr>
        <p:spPr/>
        <p:txBody>
          <a:bodyPr/>
          <a:lstStyle/>
          <a:p>
            <a:r>
              <a:rPr lang="en-US" dirty="0"/>
              <a:t>References</a:t>
            </a:r>
          </a:p>
        </p:txBody>
      </p:sp>
      <p:sp>
        <p:nvSpPr>
          <p:cNvPr id="3" name="Date Placeholder 2">
            <a:extLst>
              <a:ext uri="{FF2B5EF4-FFF2-40B4-BE49-F238E27FC236}">
                <a16:creationId xmlns:a16="http://schemas.microsoft.com/office/drawing/2014/main" id="{9E6D935D-49BD-4D3A-01F0-4BD06263175E}"/>
              </a:ext>
            </a:extLst>
          </p:cNvPr>
          <p:cNvSpPr>
            <a:spLocks noGrp="1"/>
          </p:cNvSpPr>
          <p:nvPr>
            <p:ph type="dt" sz="half" idx="10"/>
          </p:nvPr>
        </p:nvSpPr>
        <p:spPr/>
        <p:txBody>
          <a:bodyPr/>
          <a:lstStyle/>
          <a:p>
            <a:fld id="{AE6296CE-6AE7-3949-AA96-17BA20FDD846}" type="datetime3">
              <a:rPr lang="en-US" smtClean="0"/>
              <a:t>3 July 2026</a:t>
            </a:fld>
            <a:endParaRPr lang="en-GH"/>
          </a:p>
        </p:txBody>
      </p:sp>
      <p:sp>
        <p:nvSpPr>
          <p:cNvPr id="4" name="Slide Number Placeholder 3">
            <a:extLst>
              <a:ext uri="{FF2B5EF4-FFF2-40B4-BE49-F238E27FC236}">
                <a16:creationId xmlns:a16="http://schemas.microsoft.com/office/drawing/2014/main" id="{511F79B8-A869-CE8D-A72E-0A59967842CE}"/>
              </a:ext>
            </a:extLst>
          </p:cNvPr>
          <p:cNvSpPr>
            <a:spLocks noGrp="1"/>
          </p:cNvSpPr>
          <p:nvPr>
            <p:ph type="sldNum" sz="quarter" idx="12"/>
          </p:nvPr>
        </p:nvSpPr>
        <p:spPr/>
        <p:txBody>
          <a:bodyPr/>
          <a:lstStyle/>
          <a:p>
            <a:fld id="{844BC124-E8F2-314E-B275-FCD333FAB8D0}" type="slidenum">
              <a:rPr lang="en-GH" smtClean="0"/>
              <a:t>9</a:t>
            </a:fld>
            <a:endParaRPr lang="en-GH"/>
          </a:p>
        </p:txBody>
      </p:sp>
      <p:sp>
        <p:nvSpPr>
          <p:cNvPr id="10" name="TextBox 9">
            <a:extLst>
              <a:ext uri="{FF2B5EF4-FFF2-40B4-BE49-F238E27FC236}">
                <a16:creationId xmlns:a16="http://schemas.microsoft.com/office/drawing/2014/main" id="{4CD14AB6-0C5B-ED8A-137D-6E66866D2459}"/>
              </a:ext>
            </a:extLst>
          </p:cNvPr>
          <p:cNvSpPr txBox="1"/>
          <p:nvPr/>
        </p:nvSpPr>
        <p:spPr>
          <a:xfrm>
            <a:off x="838200" y="1628166"/>
            <a:ext cx="10734675" cy="4102983"/>
          </a:xfrm>
          <a:prstGeom prst="rect">
            <a:avLst/>
          </a:prstGeom>
          <a:noFill/>
        </p:spPr>
        <p:txBody>
          <a:bodyPr wrap="square">
            <a:spAutoFit/>
          </a:bodyPr>
          <a:lstStyle/>
          <a:p>
            <a:pPr marL="342900" marR="0" lvl="0" indent="-342900">
              <a:lnSpc>
                <a:spcPct val="107000"/>
              </a:lnSpc>
              <a:spcAft>
                <a:spcPts val="800"/>
              </a:spcAft>
              <a:buFont typeface="+mj-lt"/>
              <a:buAutoNum type="arabicPeriod"/>
              <a:tabLst>
                <a:tab pos="457200" algn="l"/>
              </a:tabLst>
            </a:pPr>
            <a:r>
              <a:rPr lang="en-US" sz="2000" b="0" dirty="0">
                <a:effectLst/>
                <a:latin typeface="Times New Roman" panose="02020603050405020304" pitchFamily="18" charset="0"/>
                <a:ea typeface="Times New Roman" panose="02020603050405020304" pitchFamily="18" charset="0"/>
              </a:rPr>
              <a:t>Dahlberg, T., Guo, J., &amp; Ondrus, J. (2015). A critical review of mobile payment research. </a:t>
            </a:r>
            <a:r>
              <a:rPr lang="en-US" sz="2000" b="0" i="1" dirty="0">
                <a:effectLst/>
                <a:latin typeface="Times New Roman" panose="02020603050405020304" pitchFamily="18" charset="0"/>
                <a:ea typeface="Times New Roman" panose="02020603050405020304" pitchFamily="18" charset="0"/>
              </a:rPr>
              <a:t>Electronic Commerce Research and Applications</a:t>
            </a:r>
            <a:r>
              <a:rPr lang="en-US" sz="2000" b="0" dirty="0">
                <a:effectLst/>
                <a:latin typeface="Times New Roman" panose="02020603050405020304" pitchFamily="18" charset="0"/>
                <a:ea typeface="Times New Roman" panose="02020603050405020304" pitchFamily="18" charset="0"/>
              </a:rPr>
              <a:t>, 14(5), 265–284.</a:t>
            </a:r>
            <a:endParaRPr lang="en-US" sz="2000" b="1" dirty="0">
              <a:effectLst/>
              <a:latin typeface="Times New Roman" panose="02020603050405020304" pitchFamily="18" charset="0"/>
              <a:ea typeface="Calibri" panose="020F0502020204030204" pitchFamily="34" charset="0"/>
            </a:endParaRPr>
          </a:p>
          <a:p>
            <a:pPr marL="342900" marR="0" lvl="0" indent="-342900">
              <a:lnSpc>
                <a:spcPct val="107000"/>
              </a:lnSpc>
              <a:spcAft>
                <a:spcPts val="800"/>
              </a:spcAft>
              <a:buFont typeface="+mj-lt"/>
              <a:buAutoNum type="arabicPeriod"/>
              <a:tabLst>
                <a:tab pos="457200" algn="l"/>
              </a:tabLst>
            </a:pPr>
            <a:r>
              <a:rPr lang="en-US" sz="2000" b="0" dirty="0">
                <a:effectLst/>
                <a:latin typeface="Times New Roman" panose="02020603050405020304" pitchFamily="18" charset="0"/>
                <a:ea typeface="Times New Roman" panose="02020603050405020304" pitchFamily="18" charset="0"/>
              </a:rPr>
              <a:t>Oliveira, T., Thomas, M., Baptista, G., &amp; Campos, F. (2016). Mobile payment: Understanding the determinants of customer adoption and intention to recommend the technology. </a:t>
            </a:r>
            <a:r>
              <a:rPr lang="en-US" sz="2000" b="0" i="1" dirty="0">
                <a:effectLst/>
                <a:latin typeface="Times New Roman" panose="02020603050405020304" pitchFamily="18" charset="0"/>
                <a:ea typeface="Times New Roman" panose="02020603050405020304" pitchFamily="18" charset="0"/>
              </a:rPr>
              <a:t>Computers in Human Behavior</a:t>
            </a:r>
            <a:r>
              <a:rPr lang="en-US" sz="2000" b="0" dirty="0">
                <a:effectLst/>
                <a:latin typeface="Times New Roman" panose="02020603050405020304" pitchFamily="18" charset="0"/>
                <a:ea typeface="Times New Roman" panose="02020603050405020304" pitchFamily="18" charset="0"/>
              </a:rPr>
              <a:t>, 61, 404–414.</a:t>
            </a:r>
            <a:endParaRPr lang="en-US" sz="2000" b="1" dirty="0">
              <a:effectLst/>
              <a:latin typeface="Times New Roman" panose="02020603050405020304" pitchFamily="18" charset="0"/>
              <a:ea typeface="Calibri" panose="020F0502020204030204" pitchFamily="34" charset="0"/>
            </a:endParaRPr>
          </a:p>
          <a:p>
            <a:pPr marL="342900" marR="0" lvl="0" indent="-342900">
              <a:lnSpc>
                <a:spcPct val="107000"/>
              </a:lnSpc>
              <a:spcAft>
                <a:spcPts val="800"/>
              </a:spcAft>
              <a:buFont typeface="+mj-lt"/>
              <a:buAutoNum type="arabicPeriod"/>
              <a:tabLst>
                <a:tab pos="457200" algn="l"/>
              </a:tabLst>
            </a:pPr>
            <a:r>
              <a:rPr lang="en-US" sz="2000" b="0" dirty="0">
                <a:effectLst/>
                <a:latin typeface="Times New Roman" panose="02020603050405020304" pitchFamily="18" charset="0"/>
                <a:ea typeface="Times New Roman" panose="02020603050405020304" pitchFamily="18" charset="0"/>
              </a:rPr>
              <a:t>Slade, E. L., Williams, M. D., &amp; Dwivedi, Y. K. (2013). Mobile payment adoption: Classification and review of the extant literature. </a:t>
            </a:r>
            <a:r>
              <a:rPr lang="en-US" sz="2000" b="0" i="1" dirty="0">
                <a:effectLst/>
                <a:latin typeface="Times New Roman" panose="02020603050405020304" pitchFamily="18" charset="0"/>
                <a:ea typeface="Times New Roman" panose="02020603050405020304" pitchFamily="18" charset="0"/>
              </a:rPr>
              <a:t>Marketing Review</a:t>
            </a:r>
            <a:r>
              <a:rPr lang="en-US" sz="2000" b="0" dirty="0">
                <a:effectLst/>
                <a:latin typeface="Times New Roman" panose="02020603050405020304" pitchFamily="18" charset="0"/>
                <a:ea typeface="Times New Roman" panose="02020603050405020304" pitchFamily="18" charset="0"/>
              </a:rPr>
              <a:t>, 13(2), 167–190.</a:t>
            </a:r>
            <a:endParaRPr lang="en-US" sz="2000" b="1" dirty="0">
              <a:effectLst/>
              <a:latin typeface="Times New Roman" panose="02020603050405020304" pitchFamily="18" charset="0"/>
              <a:ea typeface="Calibri" panose="020F0502020204030204" pitchFamily="34" charset="0"/>
            </a:endParaRPr>
          </a:p>
          <a:p>
            <a:pPr marL="342900" marR="0" lvl="0" indent="-342900">
              <a:lnSpc>
                <a:spcPct val="107000"/>
              </a:lnSpc>
              <a:spcAft>
                <a:spcPts val="800"/>
              </a:spcAft>
              <a:buFont typeface="+mj-lt"/>
              <a:buAutoNum type="arabicPeriod"/>
              <a:tabLst>
                <a:tab pos="457200" algn="l"/>
              </a:tabLst>
            </a:pPr>
            <a:r>
              <a:rPr lang="en-US" sz="2000" b="0" dirty="0">
                <a:effectLst/>
                <a:latin typeface="Times New Roman" panose="02020603050405020304" pitchFamily="18" charset="0"/>
                <a:ea typeface="Times New Roman" panose="02020603050405020304" pitchFamily="18" charset="0"/>
              </a:rPr>
              <a:t>Donner, J., &amp; Tellez, C. A. (2008). Mobile banking and economic development: Linking adoption, impact, and use. </a:t>
            </a:r>
            <a:r>
              <a:rPr lang="en-US" sz="2000" b="0" i="1" dirty="0">
                <a:effectLst/>
                <a:latin typeface="Times New Roman" panose="02020603050405020304" pitchFamily="18" charset="0"/>
                <a:ea typeface="Times New Roman" panose="02020603050405020304" pitchFamily="18" charset="0"/>
              </a:rPr>
              <a:t>Asian Journal of Communication</a:t>
            </a:r>
            <a:r>
              <a:rPr lang="en-US" sz="2000" b="0" dirty="0">
                <a:effectLst/>
                <a:latin typeface="Times New Roman" panose="02020603050405020304" pitchFamily="18" charset="0"/>
                <a:ea typeface="Times New Roman" panose="02020603050405020304" pitchFamily="18" charset="0"/>
              </a:rPr>
              <a:t>, 18(4), 318–332.</a:t>
            </a:r>
            <a:endParaRPr lang="en-US" sz="2000" b="1" dirty="0">
              <a:effectLst/>
              <a:latin typeface="Times New Roman" panose="02020603050405020304" pitchFamily="18" charset="0"/>
              <a:ea typeface="Calibri" panose="020F0502020204030204" pitchFamily="34" charset="0"/>
            </a:endParaRPr>
          </a:p>
          <a:p>
            <a:pPr marL="342900" marR="0" lvl="0" indent="-342900">
              <a:lnSpc>
                <a:spcPct val="107000"/>
              </a:lnSpc>
              <a:spcAft>
                <a:spcPts val="800"/>
              </a:spcAft>
              <a:buFont typeface="+mj-lt"/>
              <a:buAutoNum type="arabicPeriod"/>
              <a:tabLst>
                <a:tab pos="457200" algn="l"/>
              </a:tabLst>
            </a:pPr>
            <a:r>
              <a:rPr lang="en-US" sz="2000" b="0" dirty="0">
                <a:effectLst/>
                <a:latin typeface="Times New Roman" panose="02020603050405020304" pitchFamily="18" charset="0"/>
                <a:ea typeface="Times New Roman" panose="02020603050405020304" pitchFamily="18" charset="0"/>
              </a:rPr>
              <a:t>Boateng, R., &amp; Molla, A. (2006). Developing e-banking capabilities in a Ghanaian bank: Preliminary lessons. </a:t>
            </a:r>
            <a:r>
              <a:rPr lang="en-US" sz="2000" b="0" i="1" dirty="0">
                <a:effectLst/>
                <a:latin typeface="Times New Roman" panose="02020603050405020304" pitchFamily="18" charset="0"/>
                <a:ea typeface="Times New Roman" panose="02020603050405020304" pitchFamily="18" charset="0"/>
              </a:rPr>
              <a:t>Journal of Internet Banking and Commerce</a:t>
            </a:r>
            <a:r>
              <a:rPr lang="en-US" sz="2000" b="0" dirty="0">
                <a:effectLst/>
                <a:latin typeface="Times New Roman" panose="02020603050405020304" pitchFamily="18" charset="0"/>
                <a:ea typeface="Times New Roman" panose="02020603050405020304" pitchFamily="18" charset="0"/>
              </a:rPr>
              <a:t>, 11(2).</a:t>
            </a:r>
            <a:endParaRPr lang="en-US" sz="2000" b="1" dirty="0">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256295465"/>
      </p:ext>
    </p:extLst>
  </p:cSld>
  <p:clrMapOvr>
    <a:masterClrMapping/>
  </p:clrMapOvr>
</p:sld>
</file>

<file path=ppt/theme/theme1.xml><?xml version="1.0" encoding="utf-8"?>
<a:theme xmlns:a="http://schemas.openxmlformats.org/drawingml/2006/main" name="Office Theme">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LM Presentation" id="{49928A66-ACBB-D74A-A537-7EEFEE7A0DF9}" vid="{983DB906-632F-C74D-9E6F-1DDCFF899ED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3667</TotalTime>
  <Words>528</Words>
  <Application>Microsoft Office PowerPoint</Application>
  <PresentationFormat>Widescreen</PresentationFormat>
  <Paragraphs>50</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Arial</vt:lpstr>
      <vt:lpstr>Arial (Body)</vt:lpstr>
      <vt:lpstr>Arial Black</vt:lpstr>
      <vt:lpstr>Times New Roman</vt:lpstr>
      <vt:lpstr>Office Theme</vt:lpstr>
      <vt:lpstr>Financial Mobile Platform For Student</vt:lpstr>
      <vt:lpstr>Background Of Study</vt:lpstr>
      <vt:lpstr>Problem Statement</vt:lpstr>
      <vt:lpstr>Objective of study</vt:lpstr>
      <vt:lpstr>Literature Review</vt:lpstr>
      <vt:lpstr>Methodology</vt:lpstr>
      <vt:lpstr>Methodology</vt:lpstr>
      <vt:lpstr>Methodology</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Lukeman Dramani</dc:creator>
  <cp:lastModifiedBy>Lukeman Dramani</cp:lastModifiedBy>
  <cp:revision>48</cp:revision>
  <dcterms:created xsi:type="dcterms:W3CDTF">2025-08-15T03:53:50Z</dcterms:created>
  <dcterms:modified xsi:type="dcterms:W3CDTF">2026-07-03T08:30:07Z</dcterms:modified>
</cp:coreProperties>
</file>